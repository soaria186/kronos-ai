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7556500" cx="10693400"/>
  <p:notesSz cx="6858000" cy="9144000"/>
  <p:embeddedFontLst>
    <p:embeddedFont>
      <p:font typeface="Space Mono"/>
      <p:regular r:id="rId21"/>
      <p:bold r:id="rId22"/>
      <p:italic r:id="rId23"/>
      <p:boldItalic r:id="rId24"/>
    </p:embeddedFont>
    <p:embeddedFont>
      <p:font typeface="Anton"/>
      <p:regular r:id="rId25"/>
    </p:embeddedFont>
    <p:embeddedFont>
      <p:font typeface="Poppins Medium"/>
      <p:regular r:id="rId26"/>
      <p:bold r:id="rId27"/>
      <p:italic r:id="rId28"/>
      <p:boldItalic r:id="rId29"/>
    </p:embeddedFont>
    <p:embeddedFont>
      <p:font typeface="Roboto Mono"/>
      <p:bold r:id="rId30"/>
      <p:boldItalic r:id="rId31"/>
    </p:embeddedFont>
    <p:embeddedFont>
      <p:font typeface="Sunflower Medium"/>
      <p:regular r:id="rId32"/>
      <p:bold r:id="rId33"/>
    </p:embeddedFont>
    <p:embeddedFont>
      <p:font typeface="Tomorrow"/>
      <p:bold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gvbYqJ1hR0GwvWW/8WG29jTIiV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paceMono-bold.fntdata"/><Relationship Id="rId21" Type="http://schemas.openxmlformats.org/officeDocument/2006/relationships/font" Target="fonts/SpaceMono-regular.fntdata"/><Relationship Id="rId24" Type="http://schemas.openxmlformats.org/officeDocument/2006/relationships/font" Target="fonts/SpaceMono-boldItalic.fntdata"/><Relationship Id="rId23" Type="http://schemas.openxmlformats.org/officeDocument/2006/relationships/font" Target="fonts/SpaceMon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Medium-regular.fntdata"/><Relationship Id="rId25" Type="http://schemas.openxmlformats.org/officeDocument/2006/relationships/font" Target="fonts/Anton-regular.fntdata"/><Relationship Id="rId28" Type="http://schemas.openxmlformats.org/officeDocument/2006/relationships/font" Target="fonts/PoppinsMedium-italic.fntdata"/><Relationship Id="rId27" Type="http://schemas.openxmlformats.org/officeDocument/2006/relationships/font" Target="fonts/Poppins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schemas.openxmlformats.org/officeDocument/2006/relationships/font" Target="fonts/SunflowerMedium-bold.fntdata"/><Relationship Id="rId10" Type="http://schemas.openxmlformats.org/officeDocument/2006/relationships/slide" Target="slides/slide4.xml"/><Relationship Id="rId32" Type="http://schemas.openxmlformats.org/officeDocument/2006/relationships/font" Target="fonts/SunflowerMedium-regular.fntdata"/><Relationship Id="rId13" Type="http://schemas.openxmlformats.org/officeDocument/2006/relationships/slide" Target="slides/slide7.xml"/><Relationship Id="rId35" Type="http://schemas.openxmlformats.org/officeDocument/2006/relationships/font" Target="fonts/Tomorrow-boldItalic.fntdata"/><Relationship Id="rId12" Type="http://schemas.openxmlformats.org/officeDocument/2006/relationships/slide" Target="slides/slide6.xml"/><Relationship Id="rId34" Type="http://schemas.openxmlformats.org/officeDocument/2006/relationships/font" Target="fonts/Tomorrow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4:notes"/>
          <p:cNvSpPr/>
          <p:nvPr>
            <p:ph idx="2" type="sldImg"/>
          </p:nvPr>
        </p:nvSpPr>
        <p:spPr>
          <a:xfrm>
            <a:off x="1244600" y="1143000"/>
            <a:ext cx="4368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9edb5c2c5_0_10:notes"/>
          <p:cNvSpPr/>
          <p:nvPr>
            <p:ph idx="2" type="sldImg"/>
          </p:nvPr>
        </p:nvSpPr>
        <p:spPr>
          <a:xfrm>
            <a:off x="1244600" y="1143000"/>
            <a:ext cx="4368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9edb5c2c5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f9edb5c2c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1" Type="http://schemas.openxmlformats.org/officeDocument/2006/relationships/image" Target="../media/image13.png"/><Relationship Id="rId10" Type="http://schemas.openxmlformats.org/officeDocument/2006/relationships/image" Target="../media/image26.png"/><Relationship Id="rId21" Type="http://schemas.openxmlformats.org/officeDocument/2006/relationships/image" Target="../media/image19.png"/><Relationship Id="rId13" Type="http://schemas.openxmlformats.org/officeDocument/2006/relationships/image" Target="../media/image10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5" Type="http://schemas.openxmlformats.org/officeDocument/2006/relationships/image" Target="../media/image6.png"/><Relationship Id="rId14" Type="http://schemas.openxmlformats.org/officeDocument/2006/relationships/image" Target="../media/image14.png"/><Relationship Id="rId17" Type="http://schemas.openxmlformats.org/officeDocument/2006/relationships/image" Target="../media/image1.png"/><Relationship Id="rId16" Type="http://schemas.openxmlformats.org/officeDocument/2006/relationships/image" Target="../media/image15.png"/><Relationship Id="rId5" Type="http://schemas.openxmlformats.org/officeDocument/2006/relationships/image" Target="../media/image12.png"/><Relationship Id="rId19" Type="http://schemas.openxmlformats.org/officeDocument/2006/relationships/image" Target="../media/image22.png"/><Relationship Id="rId6" Type="http://schemas.openxmlformats.org/officeDocument/2006/relationships/image" Target="../media/image17.png"/><Relationship Id="rId18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30.png"/><Relationship Id="rId22" Type="http://schemas.openxmlformats.org/officeDocument/2006/relationships/image" Target="../media/image38.png"/><Relationship Id="rId10" Type="http://schemas.openxmlformats.org/officeDocument/2006/relationships/image" Target="../media/image34.png"/><Relationship Id="rId21" Type="http://schemas.openxmlformats.org/officeDocument/2006/relationships/image" Target="../media/image22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15" Type="http://schemas.openxmlformats.org/officeDocument/2006/relationships/image" Target="../media/image31.png"/><Relationship Id="rId14" Type="http://schemas.openxmlformats.org/officeDocument/2006/relationships/image" Target="../media/image39.png"/><Relationship Id="rId17" Type="http://schemas.openxmlformats.org/officeDocument/2006/relationships/image" Target="../media/image45.png"/><Relationship Id="rId16" Type="http://schemas.openxmlformats.org/officeDocument/2006/relationships/image" Target="../media/image40.png"/><Relationship Id="rId5" Type="http://schemas.openxmlformats.org/officeDocument/2006/relationships/image" Target="../media/image27.png"/><Relationship Id="rId19" Type="http://schemas.openxmlformats.org/officeDocument/2006/relationships/image" Target="../media/image1.png"/><Relationship Id="rId6" Type="http://schemas.openxmlformats.org/officeDocument/2006/relationships/image" Target="../media/image20.png"/><Relationship Id="rId18" Type="http://schemas.openxmlformats.org/officeDocument/2006/relationships/image" Target="../media/image42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.png"/><Relationship Id="rId11" Type="http://schemas.openxmlformats.org/officeDocument/2006/relationships/image" Target="../media/image47.png"/><Relationship Id="rId22" Type="http://schemas.openxmlformats.org/officeDocument/2006/relationships/image" Target="../media/image22.png"/><Relationship Id="rId10" Type="http://schemas.openxmlformats.org/officeDocument/2006/relationships/image" Target="../media/image54.png"/><Relationship Id="rId21" Type="http://schemas.openxmlformats.org/officeDocument/2006/relationships/image" Target="../media/image25.png"/><Relationship Id="rId13" Type="http://schemas.openxmlformats.org/officeDocument/2006/relationships/image" Target="../media/image56.png"/><Relationship Id="rId12" Type="http://schemas.openxmlformats.org/officeDocument/2006/relationships/image" Target="../media/image49.png"/><Relationship Id="rId23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image" Target="../media/image48.png"/><Relationship Id="rId9" Type="http://schemas.openxmlformats.org/officeDocument/2006/relationships/image" Target="../media/image44.png"/><Relationship Id="rId15" Type="http://schemas.openxmlformats.org/officeDocument/2006/relationships/image" Target="../media/image63.png"/><Relationship Id="rId14" Type="http://schemas.openxmlformats.org/officeDocument/2006/relationships/image" Target="../media/image50.png"/><Relationship Id="rId17" Type="http://schemas.openxmlformats.org/officeDocument/2006/relationships/image" Target="../media/image59.png"/><Relationship Id="rId16" Type="http://schemas.openxmlformats.org/officeDocument/2006/relationships/image" Target="../media/image58.png"/><Relationship Id="rId5" Type="http://schemas.openxmlformats.org/officeDocument/2006/relationships/image" Target="../media/image41.png"/><Relationship Id="rId19" Type="http://schemas.openxmlformats.org/officeDocument/2006/relationships/image" Target="../media/image52.png"/><Relationship Id="rId6" Type="http://schemas.openxmlformats.org/officeDocument/2006/relationships/image" Target="../media/image53.png"/><Relationship Id="rId18" Type="http://schemas.openxmlformats.org/officeDocument/2006/relationships/image" Target="../media/image57.png"/><Relationship Id="rId7" Type="http://schemas.openxmlformats.org/officeDocument/2006/relationships/image" Target="../media/image55.png"/><Relationship Id="rId8" Type="http://schemas.openxmlformats.org/officeDocument/2006/relationships/image" Target="../media/image46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75.png"/><Relationship Id="rId22" Type="http://schemas.openxmlformats.org/officeDocument/2006/relationships/image" Target="../media/image38.png"/><Relationship Id="rId10" Type="http://schemas.openxmlformats.org/officeDocument/2006/relationships/image" Target="../media/image62.png"/><Relationship Id="rId21" Type="http://schemas.openxmlformats.org/officeDocument/2006/relationships/image" Target="../media/image22.png"/><Relationship Id="rId13" Type="http://schemas.openxmlformats.org/officeDocument/2006/relationships/image" Target="../media/image85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1.png"/><Relationship Id="rId4" Type="http://schemas.openxmlformats.org/officeDocument/2006/relationships/image" Target="../media/image68.png"/><Relationship Id="rId9" Type="http://schemas.openxmlformats.org/officeDocument/2006/relationships/image" Target="../media/image79.png"/><Relationship Id="rId15" Type="http://schemas.openxmlformats.org/officeDocument/2006/relationships/image" Target="../media/image72.png"/><Relationship Id="rId14" Type="http://schemas.openxmlformats.org/officeDocument/2006/relationships/image" Target="../media/image71.png"/><Relationship Id="rId17" Type="http://schemas.openxmlformats.org/officeDocument/2006/relationships/image" Target="../media/image74.png"/><Relationship Id="rId16" Type="http://schemas.openxmlformats.org/officeDocument/2006/relationships/image" Target="../media/image69.png"/><Relationship Id="rId5" Type="http://schemas.openxmlformats.org/officeDocument/2006/relationships/image" Target="../media/image60.png"/><Relationship Id="rId19" Type="http://schemas.openxmlformats.org/officeDocument/2006/relationships/image" Target="../media/image1.png"/><Relationship Id="rId6" Type="http://schemas.openxmlformats.org/officeDocument/2006/relationships/image" Target="../media/image70.png"/><Relationship Id="rId18" Type="http://schemas.openxmlformats.org/officeDocument/2006/relationships/image" Target="../media/image77.png"/><Relationship Id="rId7" Type="http://schemas.openxmlformats.org/officeDocument/2006/relationships/image" Target="../media/image66.png"/><Relationship Id="rId8" Type="http://schemas.openxmlformats.org/officeDocument/2006/relationships/image" Target="../media/image6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11" Type="http://schemas.openxmlformats.org/officeDocument/2006/relationships/image" Target="../media/image96.png"/><Relationship Id="rId10" Type="http://schemas.openxmlformats.org/officeDocument/2006/relationships/image" Target="../media/image84.png"/><Relationship Id="rId21" Type="http://schemas.openxmlformats.org/officeDocument/2006/relationships/image" Target="../media/image38.png"/><Relationship Id="rId13" Type="http://schemas.openxmlformats.org/officeDocument/2006/relationships/image" Target="../media/image93.png"/><Relationship Id="rId1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6.png"/><Relationship Id="rId4" Type="http://schemas.openxmlformats.org/officeDocument/2006/relationships/image" Target="../media/image67.png"/><Relationship Id="rId9" Type="http://schemas.openxmlformats.org/officeDocument/2006/relationships/image" Target="../media/image83.png"/><Relationship Id="rId15" Type="http://schemas.openxmlformats.org/officeDocument/2006/relationships/image" Target="../media/image90.png"/><Relationship Id="rId14" Type="http://schemas.openxmlformats.org/officeDocument/2006/relationships/image" Target="../media/image95.png"/><Relationship Id="rId17" Type="http://schemas.openxmlformats.org/officeDocument/2006/relationships/image" Target="../media/image88.png"/><Relationship Id="rId16" Type="http://schemas.openxmlformats.org/officeDocument/2006/relationships/image" Target="../media/image87.png"/><Relationship Id="rId5" Type="http://schemas.openxmlformats.org/officeDocument/2006/relationships/image" Target="../media/image78.png"/><Relationship Id="rId19" Type="http://schemas.openxmlformats.org/officeDocument/2006/relationships/image" Target="../media/image25.png"/><Relationship Id="rId6" Type="http://schemas.openxmlformats.org/officeDocument/2006/relationships/image" Target="../media/image80.png"/><Relationship Id="rId18" Type="http://schemas.openxmlformats.org/officeDocument/2006/relationships/image" Target="../media/image1.png"/><Relationship Id="rId7" Type="http://schemas.openxmlformats.org/officeDocument/2006/relationships/image" Target="../media/image82.png"/><Relationship Id="rId8" Type="http://schemas.openxmlformats.org/officeDocument/2006/relationships/image" Target="../media/image8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11.png"/><Relationship Id="rId22" Type="http://schemas.openxmlformats.org/officeDocument/2006/relationships/image" Target="../media/image104.png"/><Relationship Id="rId21" Type="http://schemas.openxmlformats.org/officeDocument/2006/relationships/image" Target="../media/image105.png"/><Relationship Id="rId24" Type="http://schemas.openxmlformats.org/officeDocument/2006/relationships/image" Target="../media/image25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1.png"/><Relationship Id="rId4" Type="http://schemas.openxmlformats.org/officeDocument/2006/relationships/image" Target="../media/image115.png"/><Relationship Id="rId9" Type="http://schemas.openxmlformats.org/officeDocument/2006/relationships/image" Target="../media/image97.png"/><Relationship Id="rId26" Type="http://schemas.openxmlformats.org/officeDocument/2006/relationships/image" Target="../media/image38.png"/><Relationship Id="rId25" Type="http://schemas.openxmlformats.org/officeDocument/2006/relationships/image" Target="../media/image22.png"/><Relationship Id="rId5" Type="http://schemas.openxmlformats.org/officeDocument/2006/relationships/image" Target="../media/image89.png"/><Relationship Id="rId6" Type="http://schemas.openxmlformats.org/officeDocument/2006/relationships/image" Target="../media/image94.png"/><Relationship Id="rId7" Type="http://schemas.openxmlformats.org/officeDocument/2006/relationships/image" Target="../media/image102.png"/><Relationship Id="rId8" Type="http://schemas.openxmlformats.org/officeDocument/2006/relationships/image" Target="../media/image109.png"/><Relationship Id="rId11" Type="http://schemas.openxmlformats.org/officeDocument/2006/relationships/image" Target="../media/image112.png"/><Relationship Id="rId10" Type="http://schemas.openxmlformats.org/officeDocument/2006/relationships/image" Target="../media/image98.png"/><Relationship Id="rId13" Type="http://schemas.openxmlformats.org/officeDocument/2006/relationships/image" Target="../media/image107.png"/><Relationship Id="rId12" Type="http://schemas.openxmlformats.org/officeDocument/2006/relationships/image" Target="../media/image103.png"/><Relationship Id="rId15" Type="http://schemas.openxmlformats.org/officeDocument/2006/relationships/image" Target="../media/image106.png"/><Relationship Id="rId14" Type="http://schemas.openxmlformats.org/officeDocument/2006/relationships/image" Target="../media/image100.png"/><Relationship Id="rId17" Type="http://schemas.openxmlformats.org/officeDocument/2006/relationships/image" Target="../media/image114.png"/><Relationship Id="rId16" Type="http://schemas.openxmlformats.org/officeDocument/2006/relationships/image" Target="../media/image99.png"/><Relationship Id="rId19" Type="http://schemas.openxmlformats.org/officeDocument/2006/relationships/image" Target="../media/image110.png"/><Relationship Id="rId18" Type="http://schemas.openxmlformats.org/officeDocument/2006/relationships/image" Target="../media/image108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22" Type="http://schemas.openxmlformats.org/officeDocument/2006/relationships/image" Target="../media/image38.png"/><Relationship Id="rId21" Type="http://schemas.openxmlformats.org/officeDocument/2006/relationships/image" Target="../media/image22.png"/><Relationship Id="rId24" Type="http://schemas.openxmlformats.org/officeDocument/2006/relationships/image" Target="../media/image125.png"/><Relationship Id="rId23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7.png"/><Relationship Id="rId4" Type="http://schemas.openxmlformats.org/officeDocument/2006/relationships/image" Target="../media/image118.png"/><Relationship Id="rId9" Type="http://schemas.openxmlformats.org/officeDocument/2006/relationships/image" Target="../media/image119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16.png"/><Relationship Id="rId8" Type="http://schemas.openxmlformats.org/officeDocument/2006/relationships/image" Target="../media/image124.png"/><Relationship Id="rId11" Type="http://schemas.openxmlformats.org/officeDocument/2006/relationships/image" Target="../media/image127.png"/><Relationship Id="rId10" Type="http://schemas.openxmlformats.org/officeDocument/2006/relationships/image" Target="../media/image135.png"/><Relationship Id="rId13" Type="http://schemas.openxmlformats.org/officeDocument/2006/relationships/image" Target="../media/image133.png"/><Relationship Id="rId12" Type="http://schemas.openxmlformats.org/officeDocument/2006/relationships/image" Target="../media/image126.png"/><Relationship Id="rId15" Type="http://schemas.openxmlformats.org/officeDocument/2006/relationships/image" Target="../media/image128.png"/><Relationship Id="rId14" Type="http://schemas.openxmlformats.org/officeDocument/2006/relationships/image" Target="../media/image123.png"/><Relationship Id="rId17" Type="http://schemas.openxmlformats.org/officeDocument/2006/relationships/image" Target="../media/image121.png"/><Relationship Id="rId16" Type="http://schemas.openxmlformats.org/officeDocument/2006/relationships/image" Target="../media/image132.png"/><Relationship Id="rId19" Type="http://schemas.openxmlformats.org/officeDocument/2006/relationships/image" Target="../media/image1.png"/><Relationship Id="rId18" Type="http://schemas.openxmlformats.org/officeDocument/2006/relationships/image" Target="../media/image122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5.png"/><Relationship Id="rId22" Type="http://schemas.openxmlformats.org/officeDocument/2006/relationships/image" Target="../media/image152.png"/><Relationship Id="rId21" Type="http://schemas.openxmlformats.org/officeDocument/2006/relationships/image" Target="../media/image149.png"/><Relationship Id="rId24" Type="http://schemas.openxmlformats.org/officeDocument/2006/relationships/image" Target="../media/image25.png"/><Relationship Id="rId23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0.png"/><Relationship Id="rId4" Type="http://schemas.openxmlformats.org/officeDocument/2006/relationships/image" Target="../media/image134.png"/><Relationship Id="rId9" Type="http://schemas.openxmlformats.org/officeDocument/2006/relationships/image" Target="../media/image140.png"/><Relationship Id="rId26" Type="http://schemas.openxmlformats.org/officeDocument/2006/relationships/image" Target="../media/image38.png"/><Relationship Id="rId25" Type="http://schemas.openxmlformats.org/officeDocument/2006/relationships/image" Target="../media/image22.png"/><Relationship Id="rId5" Type="http://schemas.openxmlformats.org/officeDocument/2006/relationships/image" Target="../media/image131.png"/><Relationship Id="rId6" Type="http://schemas.openxmlformats.org/officeDocument/2006/relationships/image" Target="../media/image137.png"/><Relationship Id="rId7" Type="http://schemas.openxmlformats.org/officeDocument/2006/relationships/image" Target="../media/image136.png"/><Relationship Id="rId8" Type="http://schemas.openxmlformats.org/officeDocument/2006/relationships/image" Target="../media/image138.png"/><Relationship Id="rId11" Type="http://schemas.openxmlformats.org/officeDocument/2006/relationships/image" Target="../media/image139.png"/><Relationship Id="rId10" Type="http://schemas.openxmlformats.org/officeDocument/2006/relationships/image" Target="../media/image150.png"/><Relationship Id="rId13" Type="http://schemas.openxmlformats.org/officeDocument/2006/relationships/image" Target="../media/image141.png"/><Relationship Id="rId12" Type="http://schemas.openxmlformats.org/officeDocument/2006/relationships/image" Target="../media/image151.png"/><Relationship Id="rId15" Type="http://schemas.openxmlformats.org/officeDocument/2006/relationships/image" Target="../media/image142.png"/><Relationship Id="rId14" Type="http://schemas.openxmlformats.org/officeDocument/2006/relationships/image" Target="../media/image144.png"/><Relationship Id="rId17" Type="http://schemas.openxmlformats.org/officeDocument/2006/relationships/image" Target="../media/image146.png"/><Relationship Id="rId16" Type="http://schemas.openxmlformats.org/officeDocument/2006/relationships/image" Target="../media/image154.png"/><Relationship Id="rId19" Type="http://schemas.openxmlformats.org/officeDocument/2006/relationships/image" Target="../media/image148.png"/><Relationship Id="rId18" Type="http://schemas.openxmlformats.org/officeDocument/2006/relationships/image" Target="../media/image1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5" Type="http://schemas.openxmlformats.org/officeDocument/2006/relationships/image" Target="../media/image153.png"/><Relationship Id="rId6" Type="http://schemas.openxmlformats.org/officeDocument/2006/relationships/image" Target="../media/image155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11" Type="http://schemas.openxmlformats.org/officeDocument/2006/relationships/image" Target="../media/image173.png"/><Relationship Id="rId10" Type="http://schemas.openxmlformats.org/officeDocument/2006/relationships/image" Target="../media/image166.png"/><Relationship Id="rId13" Type="http://schemas.openxmlformats.org/officeDocument/2006/relationships/image" Target="../media/image162.png"/><Relationship Id="rId12" Type="http://schemas.openxmlformats.org/officeDocument/2006/relationships/image" Target="../media/image160.png"/><Relationship Id="rId15" Type="http://schemas.openxmlformats.org/officeDocument/2006/relationships/image" Target="../media/image164.png"/><Relationship Id="rId14" Type="http://schemas.openxmlformats.org/officeDocument/2006/relationships/image" Target="../media/image165.png"/><Relationship Id="rId17" Type="http://schemas.openxmlformats.org/officeDocument/2006/relationships/image" Target="../media/image1.png"/><Relationship Id="rId16" Type="http://schemas.openxmlformats.org/officeDocument/2006/relationships/image" Target="../media/image171.png"/><Relationship Id="rId19" Type="http://schemas.openxmlformats.org/officeDocument/2006/relationships/image" Target="../media/image22.png"/><Relationship Id="rId1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7.png"/><Relationship Id="rId4" Type="http://schemas.openxmlformats.org/officeDocument/2006/relationships/image" Target="../media/image163.png"/><Relationship Id="rId9" Type="http://schemas.openxmlformats.org/officeDocument/2006/relationships/image" Target="../media/image174.png"/><Relationship Id="rId5" Type="http://schemas.openxmlformats.org/officeDocument/2006/relationships/image" Target="../media/image168.png"/><Relationship Id="rId6" Type="http://schemas.openxmlformats.org/officeDocument/2006/relationships/image" Target="../media/image159.png"/><Relationship Id="rId7" Type="http://schemas.openxmlformats.org/officeDocument/2006/relationships/image" Target="../media/image169.png"/><Relationship Id="rId8" Type="http://schemas.openxmlformats.org/officeDocument/2006/relationships/image" Target="../media/image172.png"/><Relationship Id="rId11" Type="http://schemas.openxmlformats.org/officeDocument/2006/relationships/image" Target="../media/image176.png"/><Relationship Id="rId10" Type="http://schemas.openxmlformats.org/officeDocument/2006/relationships/image" Target="../media/image170.png"/><Relationship Id="rId13" Type="http://schemas.openxmlformats.org/officeDocument/2006/relationships/image" Target="../media/image184.png"/><Relationship Id="rId12" Type="http://schemas.openxmlformats.org/officeDocument/2006/relationships/image" Target="../media/image177.png"/><Relationship Id="rId15" Type="http://schemas.openxmlformats.org/officeDocument/2006/relationships/image" Target="../media/image178.png"/><Relationship Id="rId14" Type="http://schemas.openxmlformats.org/officeDocument/2006/relationships/image" Target="../media/image175.png"/><Relationship Id="rId17" Type="http://schemas.openxmlformats.org/officeDocument/2006/relationships/image" Target="../media/image1.png"/><Relationship Id="rId16" Type="http://schemas.openxmlformats.org/officeDocument/2006/relationships/image" Target="../media/image181.png"/><Relationship Id="rId19" Type="http://schemas.openxmlformats.org/officeDocument/2006/relationships/image" Target="../media/image38.png"/><Relationship Id="rId18" Type="http://schemas.openxmlformats.org/officeDocument/2006/relationships/image" Target="../media/image215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3.png"/><Relationship Id="rId22" Type="http://schemas.openxmlformats.org/officeDocument/2006/relationships/image" Target="../media/image1.png"/><Relationship Id="rId21" Type="http://schemas.openxmlformats.org/officeDocument/2006/relationships/image" Target="../media/image205.png"/><Relationship Id="rId24" Type="http://schemas.openxmlformats.org/officeDocument/2006/relationships/image" Target="../media/image22.png"/><Relationship Id="rId23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2.png"/><Relationship Id="rId4" Type="http://schemas.openxmlformats.org/officeDocument/2006/relationships/image" Target="../media/image204.png"/><Relationship Id="rId9" Type="http://schemas.openxmlformats.org/officeDocument/2006/relationships/image" Target="../media/image183.png"/><Relationship Id="rId25" Type="http://schemas.openxmlformats.org/officeDocument/2006/relationships/image" Target="../media/image38.png"/><Relationship Id="rId5" Type="http://schemas.openxmlformats.org/officeDocument/2006/relationships/image" Target="../media/image179.png"/><Relationship Id="rId6" Type="http://schemas.openxmlformats.org/officeDocument/2006/relationships/image" Target="../media/image185.png"/><Relationship Id="rId7" Type="http://schemas.openxmlformats.org/officeDocument/2006/relationships/image" Target="../media/image186.png"/><Relationship Id="rId8" Type="http://schemas.openxmlformats.org/officeDocument/2006/relationships/image" Target="../media/image180.png"/><Relationship Id="rId11" Type="http://schemas.openxmlformats.org/officeDocument/2006/relationships/image" Target="../media/image187.png"/><Relationship Id="rId10" Type="http://schemas.openxmlformats.org/officeDocument/2006/relationships/image" Target="../media/image188.png"/><Relationship Id="rId13" Type="http://schemas.openxmlformats.org/officeDocument/2006/relationships/image" Target="../media/image189.png"/><Relationship Id="rId12" Type="http://schemas.openxmlformats.org/officeDocument/2006/relationships/image" Target="../media/image192.png"/><Relationship Id="rId15" Type="http://schemas.openxmlformats.org/officeDocument/2006/relationships/image" Target="../media/image190.png"/><Relationship Id="rId14" Type="http://schemas.openxmlformats.org/officeDocument/2006/relationships/image" Target="../media/image197.png"/><Relationship Id="rId17" Type="http://schemas.openxmlformats.org/officeDocument/2006/relationships/image" Target="../media/image202.png"/><Relationship Id="rId16" Type="http://schemas.openxmlformats.org/officeDocument/2006/relationships/image" Target="../media/image196.png"/><Relationship Id="rId19" Type="http://schemas.openxmlformats.org/officeDocument/2006/relationships/image" Target="../media/image195.png"/><Relationship Id="rId18" Type="http://schemas.openxmlformats.org/officeDocument/2006/relationships/image" Target="../media/image191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1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1.png"/><Relationship Id="rId4" Type="http://schemas.openxmlformats.org/officeDocument/2006/relationships/image" Target="../media/image193.png"/><Relationship Id="rId9" Type="http://schemas.openxmlformats.org/officeDocument/2006/relationships/image" Target="../media/image208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194.png"/><Relationship Id="rId8" Type="http://schemas.openxmlformats.org/officeDocument/2006/relationships/image" Target="../media/image213.png"/><Relationship Id="rId11" Type="http://schemas.openxmlformats.org/officeDocument/2006/relationships/image" Target="../media/image206.png"/><Relationship Id="rId10" Type="http://schemas.openxmlformats.org/officeDocument/2006/relationships/image" Target="../media/image200.png"/><Relationship Id="rId13" Type="http://schemas.openxmlformats.org/officeDocument/2006/relationships/image" Target="../media/image209.png"/><Relationship Id="rId12" Type="http://schemas.openxmlformats.org/officeDocument/2006/relationships/image" Target="../media/image207.png"/><Relationship Id="rId15" Type="http://schemas.openxmlformats.org/officeDocument/2006/relationships/image" Target="../media/image214.png"/><Relationship Id="rId14" Type="http://schemas.openxmlformats.org/officeDocument/2006/relationships/image" Target="../media/image210.png"/><Relationship Id="rId17" Type="http://schemas.openxmlformats.org/officeDocument/2006/relationships/image" Target="../media/image211.png"/><Relationship Id="rId16" Type="http://schemas.openxmlformats.org/officeDocument/2006/relationships/image" Target="../media/image212.png"/><Relationship Id="rId19" Type="http://schemas.openxmlformats.org/officeDocument/2006/relationships/image" Target="../media/image25.png"/><Relationship Id="rId18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1.png"/><Relationship Id="rId4" Type="http://schemas.openxmlformats.org/officeDocument/2006/relationships/image" Target="../media/image204.png"/><Relationship Id="rId5" Type="http://schemas.openxmlformats.org/officeDocument/2006/relationships/image" Target="../media/image179.png"/><Relationship Id="rId6" Type="http://schemas.openxmlformats.org/officeDocument/2006/relationships/image" Target="../media/image185.png"/><Relationship Id="rId7" Type="http://schemas.openxmlformats.org/officeDocument/2006/relationships/image" Target="../media/image1.png"/><Relationship Id="rId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8143516" y="309553"/>
            <a:ext cx="1657067" cy="478400"/>
          </a:xfrm>
          <a:custGeom>
            <a:rect b="b" l="l" r="r" t="t"/>
            <a:pathLst>
              <a:path extrusionOk="0" h="637867" w="2209423">
                <a:moveTo>
                  <a:pt x="0" y="0"/>
                </a:moveTo>
                <a:lnTo>
                  <a:pt x="2209423" y="0"/>
                </a:lnTo>
                <a:lnTo>
                  <a:pt x="2209423" y="637867"/>
                </a:lnTo>
                <a:lnTo>
                  <a:pt x="0" y="63786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400" y="0"/>
            <a:ext cx="10718800" cy="75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21303" y="2535142"/>
            <a:ext cx="6897243" cy="10025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38">
                <a:solidFill>
                  <a:srgbClr val="EEF2FA"/>
                </a:solidFill>
              </a:rPr>
              <a:t>K</a:t>
            </a:r>
            <a:r>
              <a:rPr b="1" lang="en-US" sz="5438">
                <a:solidFill>
                  <a:srgbClr val="EEF2FA"/>
                </a:solidFill>
                <a:latin typeface="Arial"/>
                <a:ea typeface="Arial"/>
                <a:cs typeface="Arial"/>
                <a:sym typeface="Arial"/>
              </a:rPr>
              <a:t>RONOS AI</a:t>
            </a:r>
            <a:endParaRPr sz="5438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21303" y="3577749"/>
            <a:ext cx="6576546" cy="72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7F4F4"/>
                </a:solidFill>
                <a:latin typeface="Arial"/>
                <a:ea typeface="Arial"/>
                <a:cs typeface="Arial"/>
                <a:sym typeface="Arial"/>
              </a:rPr>
              <a:t> Automatización de Seguridad Asistida por IA</a:t>
            </a:r>
            <a:endParaRPr sz="1666">
              <a:solidFill>
                <a:srgbClr val="17F4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84710" y="5812390"/>
            <a:ext cx="6576441" cy="8822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Nicolas Zamora  ·  Rodrigo Riveros  ·  Patricio González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·  DUOC UC, sede Padre Alonso de Ovalle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 Guia: Ceferino Anibal Sotelo Becerra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97841" y="431300"/>
            <a:ext cx="1414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3">
                <a:solidFill>
                  <a:schemeClr val="lt1"/>
                </a:solidFill>
              </a:rPr>
              <a:t>K</a:t>
            </a:r>
            <a:r>
              <a:rPr lang="en-US" sz="205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ronos </a:t>
            </a:r>
            <a:r>
              <a:rPr lang="en-US" sz="2053">
                <a:solidFill>
                  <a:srgbClr val="17F4F4"/>
                </a:solidFill>
              </a:rPr>
              <a:t>AI</a:t>
            </a:r>
            <a:endParaRPr sz="1900"/>
          </a:p>
        </p:txBody>
      </p:sp>
      <p:sp>
        <p:nvSpPr>
          <p:cNvPr id="96" name="Google Shape;96;p1"/>
          <p:cNvSpPr/>
          <p:nvPr/>
        </p:nvSpPr>
        <p:spPr>
          <a:xfrm>
            <a:off x="364704" y="431302"/>
            <a:ext cx="458927" cy="478401"/>
          </a:xfrm>
          <a:custGeom>
            <a:rect b="b" l="l" r="r" t="t"/>
            <a:pathLst>
              <a:path extrusionOk="0" h="425245" w="348332">
                <a:moveTo>
                  <a:pt x="0" y="0"/>
                </a:moveTo>
                <a:lnTo>
                  <a:pt x="348332" y="0"/>
                </a:lnTo>
                <a:lnTo>
                  <a:pt x="348332" y="425245"/>
                </a:lnTo>
                <a:lnTo>
                  <a:pt x="0" y="42524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78800" y="172500"/>
            <a:ext cx="2124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6495" y="222538"/>
            <a:ext cx="22955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title="logo final pp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53500" y="875737"/>
            <a:ext cx="8876599" cy="4848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-93200" y="-2050"/>
            <a:ext cx="10902608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80944" y="311097"/>
            <a:ext cx="515394" cy="641049"/>
          </a:xfrm>
          <a:custGeom>
            <a:rect b="b" l="l" r="r" t="t"/>
            <a:pathLst>
              <a:path extrusionOk="0" h="854731" w="687193">
                <a:moveTo>
                  <a:pt x="0" y="0"/>
                </a:moveTo>
                <a:lnTo>
                  <a:pt x="687193" y="0"/>
                </a:lnTo>
                <a:lnTo>
                  <a:pt x="687193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07925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51306" y="438273"/>
            <a:ext cx="1357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6">
                <a:solidFill>
                  <a:srgbClr val="FFFFFF"/>
                </a:solidFill>
              </a:rPr>
              <a:t>K</a:t>
            </a:r>
            <a:r>
              <a:rPr lang="en-US" sz="2016">
                <a:solidFill>
                  <a:srgbClr val="FFFFFF"/>
                </a:solidFill>
              </a:rPr>
              <a:t>ronos AI</a:t>
            </a:r>
            <a:endParaRPr sz="1500"/>
          </a:p>
        </p:txBody>
      </p:sp>
      <p:sp>
        <p:nvSpPr>
          <p:cNvPr id="108" name="Google Shape;108;p3"/>
          <p:cNvSpPr/>
          <p:nvPr/>
        </p:nvSpPr>
        <p:spPr>
          <a:xfrm>
            <a:off x="380944" y="1885437"/>
            <a:ext cx="642376" cy="169689"/>
          </a:xfrm>
          <a:custGeom>
            <a:rect b="b" l="l" r="r" t="t"/>
            <a:pathLst>
              <a:path extrusionOk="0" h="226252" w="856501">
                <a:moveTo>
                  <a:pt x="0" y="0"/>
                </a:moveTo>
                <a:lnTo>
                  <a:pt x="856501" y="0"/>
                </a:lnTo>
                <a:lnTo>
                  <a:pt x="856501" y="226252"/>
                </a:lnTo>
                <a:lnTo>
                  <a:pt x="0" y="226252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13078" y="2270525"/>
            <a:ext cx="46929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9">
                <a:solidFill>
                  <a:srgbClr val="FFFFFF"/>
                </a:solidFill>
              </a:rPr>
              <a:t>K</a:t>
            </a:r>
            <a:r>
              <a:rPr lang="en-US" sz="3889">
                <a:solidFill>
                  <a:srgbClr val="FFFFFF"/>
                </a:solidFill>
              </a:rPr>
              <a:t>ronos AI: Sistema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513084" y="2790550"/>
            <a:ext cx="36876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723">
                <a:solidFill>
                  <a:srgbClr val="0088FF"/>
                </a:solidFill>
                <a:latin typeface="Arial"/>
                <a:ea typeface="Arial"/>
                <a:cs typeface="Arial"/>
                <a:sym typeface="Arial"/>
              </a:rPr>
              <a:t>SOAR con IA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7132277" y="311102"/>
            <a:ext cx="1779679" cy="802914"/>
          </a:xfrm>
          <a:custGeom>
            <a:rect b="b" l="l" r="r" t="t"/>
            <a:pathLst>
              <a:path extrusionOk="0" h="641049" w="1703042">
                <a:moveTo>
                  <a:pt x="0" y="0"/>
                </a:moveTo>
                <a:lnTo>
                  <a:pt x="1703042" y="0"/>
                </a:lnTo>
                <a:lnTo>
                  <a:pt x="1703042" y="641049"/>
                </a:lnTo>
                <a:lnTo>
                  <a:pt x="0" y="64104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281875" y="561122"/>
            <a:ext cx="386048" cy="416682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911950" y="311100"/>
            <a:ext cx="1404263" cy="774067"/>
          </a:xfrm>
          <a:custGeom>
            <a:rect b="b" l="l" r="r" t="t"/>
            <a:pathLst>
              <a:path extrusionOk="0" h="641049" w="1872351">
                <a:moveTo>
                  <a:pt x="0" y="0"/>
                </a:moveTo>
                <a:lnTo>
                  <a:pt x="1872351" y="0"/>
                </a:lnTo>
                <a:lnTo>
                  <a:pt x="1872351" y="641049"/>
                </a:lnTo>
                <a:lnTo>
                  <a:pt x="0" y="641049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9035581" y="609222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356525" y="2045700"/>
            <a:ext cx="4201610" cy="4892709"/>
          </a:xfrm>
          <a:custGeom>
            <a:rect b="b" l="l" r="r" t="t"/>
            <a:pathLst>
              <a:path extrusionOk="0" h="6523612" w="5268476">
                <a:moveTo>
                  <a:pt x="0" y="0"/>
                </a:moveTo>
                <a:lnTo>
                  <a:pt x="5268476" y="0"/>
                </a:lnTo>
                <a:lnTo>
                  <a:pt x="5268476" y="6523612"/>
                </a:lnTo>
                <a:lnTo>
                  <a:pt x="0" y="6523612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737474" y="2045699"/>
            <a:ext cx="649845" cy="320524"/>
          </a:xfrm>
          <a:custGeom>
            <a:rect b="b" l="l" r="r" t="t"/>
            <a:pathLst>
              <a:path extrusionOk="0" h="427366" w="866460">
                <a:moveTo>
                  <a:pt x="0" y="0"/>
                </a:moveTo>
                <a:lnTo>
                  <a:pt x="866460" y="0"/>
                </a:lnTo>
                <a:lnTo>
                  <a:pt x="866460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737474" y="2517058"/>
            <a:ext cx="522864" cy="641049"/>
          </a:xfrm>
          <a:custGeom>
            <a:rect b="b" l="l" r="r" t="t"/>
            <a:pathLst>
              <a:path extrusionOk="0" h="854731" w="697152">
                <a:moveTo>
                  <a:pt x="0" y="0"/>
                </a:moveTo>
                <a:lnTo>
                  <a:pt x="697152" y="0"/>
                </a:lnTo>
                <a:lnTo>
                  <a:pt x="697152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840852" y="2725800"/>
            <a:ext cx="2673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4">
                <a:solidFill>
                  <a:srgbClr val="FFFFFF"/>
                </a:solidFill>
              </a:rPr>
              <a:t>01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7321850" y="3019675"/>
            <a:ext cx="30510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Identificación y categorización automatizada de amenazas mediante modelos de aprendizaje profundo.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737474" y="3931136"/>
            <a:ext cx="522864" cy="641049"/>
          </a:xfrm>
          <a:custGeom>
            <a:rect b="b" l="l" r="r" t="t"/>
            <a:pathLst>
              <a:path extrusionOk="0" h="854731" w="697152">
                <a:moveTo>
                  <a:pt x="0" y="0"/>
                </a:moveTo>
                <a:lnTo>
                  <a:pt x="697152" y="0"/>
                </a:lnTo>
                <a:lnTo>
                  <a:pt x="697152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840852" y="4135031"/>
            <a:ext cx="267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rgbClr val="FFFFFF"/>
                </a:solidFill>
              </a:rPr>
              <a:t>02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7321850" y="4433500"/>
            <a:ext cx="2887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Flujos de trabajo determinísticos que aseguran respuestas consistentes y predecibles en el sistema.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737474" y="5354641"/>
            <a:ext cx="522864" cy="631621"/>
          </a:xfrm>
          <a:custGeom>
            <a:rect b="b" l="l" r="r" t="t"/>
            <a:pathLst>
              <a:path extrusionOk="0" h="842162" w="697152">
                <a:moveTo>
                  <a:pt x="0" y="0"/>
                </a:moveTo>
                <a:lnTo>
                  <a:pt x="697152" y="0"/>
                </a:lnTo>
                <a:lnTo>
                  <a:pt x="697152" y="842162"/>
                </a:lnTo>
                <a:lnTo>
                  <a:pt x="0" y="842162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840850" y="5556900"/>
            <a:ext cx="267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9">
                <a:solidFill>
                  <a:srgbClr val="FFFFFF"/>
                </a:solidFill>
              </a:rPr>
              <a:t>03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7321850" y="5878125"/>
            <a:ext cx="3051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Arquitectura diseñada para la integración de tokens y escalabilidad en entornos de red modernos.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7321851" y="2657925"/>
            <a:ext cx="1713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Clasificación IA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7321851" y="4071750"/>
            <a:ext cx="116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Ejecución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7321850" y="5500700"/>
            <a:ext cx="135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8">
                <a:solidFill>
                  <a:srgbClr val="FFFFFF"/>
                </a:solidFill>
              </a:rPr>
              <a:t>M</a:t>
            </a:r>
            <a:r>
              <a:rPr lang="en-US">
                <a:solidFill>
                  <a:srgbClr val="FFFFFF"/>
                </a:solidFill>
              </a:rPr>
              <a:t>odernización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972670" y="898225"/>
            <a:ext cx="288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Cybersecurity Intelligence</a:t>
            </a:r>
            <a:endParaRPr sz="900"/>
          </a:p>
        </p:txBody>
      </p:sp>
      <p:sp>
        <p:nvSpPr>
          <p:cNvPr id="130" name="Google Shape;130;p3"/>
          <p:cNvSpPr txBox="1"/>
          <p:nvPr/>
        </p:nvSpPr>
        <p:spPr>
          <a:xfrm>
            <a:off x="7645952" y="691763"/>
            <a:ext cx="10101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9">
                <a:solidFill>
                  <a:srgbClr val="FFFFFF"/>
                </a:solidFill>
              </a:rPr>
              <a:t>Defensa Soar</a:t>
            </a:r>
            <a:endParaRPr sz="1800"/>
          </a:p>
        </p:txBody>
      </p:sp>
      <p:sp>
        <p:nvSpPr>
          <p:cNvPr id="131" name="Google Shape;131;p3"/>
          <p:cNvSpPr txBox="1"/>
          <p:nvPr/>
        </p:nvSpPr>
        <p:spPr>
          <a:xfrm>
            <a:off x="9272217" y="722700"/>
            <a:ext cx="7803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Determinístico</a:t>
            </a:r>
            <a:endParaRPr/>
          </a:p>
        </p:txBody>
      </p:sp>
      <p:pic>
        <p:nvPicPr>
          <p:cNvPr id="132" name="Google Shape;132;p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65142" y="3579238"/>
            <a:ext cx="5408400" cy="182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 txBox="1"/>
          <p:nvPr/>
        </p:nvSpPr>
        <p:spPr>
          <a:xfrm>
            <a:off x="486251" y="4116396"/>
            <a:ext cx="49662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Implementación de un enfoque tecnológico moderno para la ciberseguridad avanzada mediante automatización inteligente.</a:t>
            </a:r>
            <a:endParaRPr/>
          </a:p>
          <a:p>
            <a:pPr indent="0" lvl="0" marL="0" marR="0" rtl="0" algn="l">
              <a:lnSpc>
                <a:spcPct val="16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6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Este sistema integra clasificación asistida por inteligencia artificial y ejecución determinística para optimizar la respuesta ante incidentes y la gestión operativa.</a:t>
            </a:r>
            <a:endParaRPr/>
          </a:p>
        </p:txBody>
      </p:sp>
      <p:pic>
        <p:nvPicPr>
          <p:cNvPr id="134" name="Google Shape;134;p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82275" y="31108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/>
          <p:nvPr/>
        </p:nvSpPr>
        <p:spPr>
          <a:xfrm>
            <a:off x="7132273" y="387875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9175675" y="208825"/>
            <a:ext cx="113247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SOAR + IA</a:t>
            </a:r>
            <a:endParaRPr/>
          </a:p>
        </p:txBody>
      </p:sp>
      <p:pic>
        <p:nvPicPr>
          <p:cNvPr id="139" name="Google Shape;139;p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023313" y="6506925"/>
            <a:ext cx="5810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0" y="0"/>
            <a:ext cx="10795720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81210" y="311485"/>
            <a:ext cx="515755" cy="641850"/>
          </a:xfrm>
          <a:custGeom>
            <a:rect b="b" l="l" r="r" t="t"/>
            <a:pathLst>
              <a:path extrusionOk="0" h="855799" w="687673">
                <a:moveTo>
                  <a:pt x="0" y="0"/>
                </a:moveTo>
                <a:lnTo>
                  <a:pt x="687673" y="0"/>
                </a:lnTo>
                <a:lnTo>
                  <a:pt x="687673" y="855799"/>
                </a:lnTo>
                <a:lnTo>
                  <a:pt x="0" y="85579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08280" y="471948"/>
            <a:ext cx="388685" cy="320924"/>
          </a:xfrm>
          <a:custGeom>
            <a:rect b="b" l="l" r="r" t="t"/>
            <a:pathLst>
              <a:path extrusionOk="0" h="427899" w="518246">
                <a:moveTo>
                  <a:pt x="0" y="0"/>
                </a:moveTo>
                <a:lnTo>
                  <a:pt x="518246" y="0"/>
                </a:lnTo>
                <a:lnTo>
                  <a:pt x="518246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04750" y="438751"/>
            <a:ext cx="159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K</a:t>
            </a:r>
            <a:r>
              <a:rPr b="1" lang="en-US" sz="2000">
                <a:solidFill>
                  <a:srgbClr val="FFFFFF"/>
                </a:solidFill>
              </a:rPr>
              <a:t>ronos </a:t>
            </a:r>
            <a:r>
              <a:rPr b="1" lang="en-US" sz="2000">
                <a:solidFill>
                  <a:srgbClr val="17F4F4"/>
                </a:solidFill>
              </a:rPr>
              <a:t>AI</a:t>
            </a:r>
            <a:endParaRPr sz="2000">
              <a:solidFill>
                <a:srgbClr val="17F4F4"/>
              </a:solidFill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758746" y="311485"/>
            <a:ext cx="1151105" cy="481387"/>
          </a:xfrm>
          <a:custGeom>
            <a:rect b="b" l="l" r="r" t="t"/>
            <a:pathLst>
              <a:path extrusionOk="0" h="641849" w="1534807">
                <a:moveTo>
                  <a:pt x="0" y="0"/>
                </a:moveTo>
                <a:lnTo>
                  <a:pt x="1534807" y="0"/>
                </a:lnTo>
                <a:lnTo>
                  <a:pt x="1534807" y="641849"/>
                </a:lnTo>
                <a:lnTo>
                  <a:pt x="0" y="64184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885816" y="471948"/>
            <a:ext cx="261615" cy="320924"/>
          </a:xfrm>
          <a:custGeom>
            <a:rect b="b" l="l" r="r" t="t"/>
            <a:pathLst>
              <a:path extrusionOk="0" h="427899" w="348820">
                <a:moveTo>
                  <a:pt x="0" y="0"/>
                </a:moveTo>
                <a:lnTo>
                  <a:pt x="348820" y="0"/>
                </a:lnTo>
                <a:lnTo>
                  <a:pt x="348820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112823" y="517119"/>
            <a:ext cx="577197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Seguridad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8902376" y="311485"/>
            <a:ext cx="896965" cy="481387"/>
          </a:xfrm>
          <a:custGeom>
            <a:rect b="b" l="l" r="r" t="t"/>
            <a:pathLst>
              <a:path extrusionOk="0" h="641849" w="1195953">
                <a:moveTo>
                  <a:pt x="0" y="0"/>
                </a:moveTo>
                <a:lnTo>
                  <a:pt x="1195953" y="0"/>
                </a:lnTo>
                <a:lnTo>
                  <a:pt x="1195953" y="641849"/>
                </a:lnTo>
                <a:lnTo>
                  <a:pt x="0" y="641849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029446" y="471948"/>
            <a:ext cx="261615" cy="320924"/>
          </a:xfrm>
          <a:custGeom>
            <a:rect b="b" l="l" r="r" t="t"/>
            <a:pathLst>
              <a:path extrusionOk="0" h="427899" w="348820">
                <a:moveTo>
                  <a:pt x="0" y="0"/>
                </a:moveTo>
                <a:lnTo>
                  <a:pt x="348820" y="0"/>
                </a:lnTo>
                <a:lnTo>
                  <a:pt x="348820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791866" y="311485"/>
            <a:ext cx="515755" cy="481387"/>
          </a:xfrm>
          <a:custGeom>
            <a:rect b="b" l="l" r="r" t="t"/>
            <a:pathLst>
              <a:path extrusionOk="0" h="641849" w="687673">
                <a:moveTo>
                  <a:pt x="0" y="0"/>
                </a:moveTo>
                <a:lnTo>
                  <a:pt x="687673" y="0"/>
                </a:lnTo>
                <a:lnTo>
                  <a:pt x="687673" y="641849"/>
                </a:lnTo>
                <a:lnTo>
                  <a:pt x="0" y="641849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918936" y="471948"/>
            <a:ext cx="261615" cy="320924"/>
          </a:xfrm>
          <a:custGeom>
            <a:rect b="b" l="l" r="r" t="t"/>
            <a:pathLst>
              <a:path extrusionOk="0" h="427899" w="348820">
                <a:moveTo>
                  <a:pt x="0" y="0"/>
                </a:moveTo>
                <a:lnTo>
                  <a:pt x="348820" y="0"/>
                </a:lnTo>
                <a:lnTo>
                  <a:pt x="348820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81210" y="1727329"/>
            <a:ext cx="134545" cy="320924"/>
          </a:xfrm>
          <a:custGeom>
            <a:rect b="b" l="l" r="r" t="t"/>
            <a:pathLst>
              <a:path extrusionOk="0" h="427899" w="179393">
                <a:moveTo>
                  <a:pt x="0" y="0"/>
                </a:moveTo>
                <a:lnTo>
                  <a:pt x="179393" y="0"/>
                </a:lnTo>
                <a:lnTo>
                  <a:pt x="179393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41330" y="1771177"/>
            <a:ext cx="234085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5">
                <a:solidFill>
                  <a:srgbClr val="00E8FF"/>
                </a:solidFill>
                <a:latin typeface="Roboto Mono"/>
                <a:ea typeface="Roboto Mono"/>
                <a:cs typeface="Roboto Mono"/>
                <a:sym typeface="Roboto Mono"/>
              </a:rPr>
              <a:t>Desafío Ciberseguridad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513087" y="2031250"/>
            <a:ext cx="46209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Problema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513074" y="2867875"/>
            <a:ext cx="49455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08">
                <a:solidFill>
                  <a:srgbClr val="00E8FF"/>
                </a:solidFill>
              </a:rPr>
              <a:t>Actual para las PYMEs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81200" y="3775577"/>
            <a:ext cx="4836136" cy="2071096"/>
          </a:xfrm>
          <a:custGeom>
            <a:rect b="b" l="l" r="r" t="t"/>
            <a:pathLst>
              <a:path extrusionOk="0" h="4002117" w="6448181">
                <a:moveTo>
                  <a:pt x="0" y="0"/>
                </a:moveTo>
                <a:lnTo>
                  <a:pt x="6448181" y="0"/>
                </a:lnTo>
                <a:lnTo>
                  <a:pt x="6448181" y="4002117"/>
                </a:lnTo>
                <a:lnTo>
                  <a:pt x="0" y="4002117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852696" y="1415843"/>
            <a:ext cx="3946645" cy="2680663"/>
          </a:xfrm>
          <a:custGeom>
            <a:rect b="b" l="l" r="r" t="t"/>
            <a:pathLst>
              <a:path extrusionOk="0" h="3574217" w="5262194">
                <a:moveTo>
                  <a:pt x="0" y="0"/>
                </a:moveTo>
                <a:lnTo>
                  <a:pt x="5262194" y="0"/>
                </a:lnTo>
                <a:lnTo>
                  <a:pt x="5262194" y="3574217"/>
                </a:lnTo>
                <a:lnTo>
                  <a:pt x="0" y="3574217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06836" y="3464096"/>
            <a:ext cx="1405245" cy="481387"/>
          </a:xfrm>
          <a:custGeom>
            <a:rect b="b" l="l" r="r" t="t"/>
            <a:pathLst>
              <a:path extrusionOk="0" h="641849" w="1873660">
                <a:moveTo>
                  <a:pt x="0" y="0"/>
                </a:moveTo>
                <a:lnTo>
                  <a:pt x="1873660" y="0"/>
                </a:lnTo>
                <a:lnTo>
                  <a:pt x="1873660" y="641849"/>
                </a:lnTo>
                <a:lnTo>
                  <a:pt x="0" y="641849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233906" y="3615119"/>
            <a:ext cx="134545" cy="330362"/>
          </a:xfrm>
          <a:custGeom>
            <a:rect b="b" l="l" r="r" t="t"/>
            <a:pathLst>
              <a:path extrusionOk="0" h="440484" w="179393">
                <a:moveTo>
                  <a:pt x="0" y="0"/>
                </a:moveTo>
                <a:lnTo>
                  <a:pt x="179393" y="0"/>
                </a:lnTo>
                <a:lnTo>
                  <a:pt x="179393" y="440484"/>
                </a:lnTo>
                <a:lnTo>
                  <a:pt x="0" y="440484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852696" y="4247529"/>
            <a:ext cx="3946646" cy="2841125"/>
          </a:xfrm>
          <a:custGeom>
            <a:rect b="b" l="l" r="r" t="t"/>
            <a:pathLst>
              <a:path extrusionOk="0" h="3788167" w="5262194">
                <a:moveTo>
                  <a:pt x="0" y="0"/>
                </a:moveTo>
                <a:lnTo>
                  <a:pt x="5262194" y="0"/>
                </a:lnTo>
                <a:lnTo>
                  <a:pt x="5262194" y="3788167"/>
                </a:lnTo>
                <a:lnTo>
                  <a:pt x="0" y="3788167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233906" y="6456244"/>
            <a:ext cx="261615" cy="320924"/>
          </a:xfrm>
          <a:custGeom>
            <a:rect b="b" l="l" r="r" t="t"/>
            <a:pathLst>
              <a:path extrusionOk="0" h="427899" w="348820">
                <a:moveTo>
                  <a:pt x="0" y="0"/>
                </a:moveTo>
                <a:lnTo>
                  <a:pt x="348820" y="0"/>
                </a:lnTo>
                <a:lnTo>
                  <a:pt x="348820" y="427899"/>
                </a:lnTo>
                <a:lnTo>
                  <a:pt x="0" y="427899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9267217" y="517119"/>
            <a:ext cx="32066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Redes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004750" y="875222"/>
            <a:ext cx="2629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Soar &amp; Ejecución Determinística</a:t>
            </a:r>
            <a:endParaRPr sz="900"/>
          </a:p>
        </p:txBody>
      </p:sp>
      <p:sp>
        <p:nvSpPr>
          <p:cNvPr id="167" name="Google Shape;167;p4"/>
          <p:cNvSpPr txBox="1"/>
          <p:nvPr/>
        </p:nvSpPr>
        <p:spPr>
          <a:xfrm>
            <a:off x="847725" y="4155275"/>
            <a:ext cx="3833700" cy="13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Las empresas enfrentan una barrera económica crítica: el alto costo de Soar comercial es imposible.</a:t>
            </a:r>
            <a:endParaRPr sz="1200"/>
          </a:p>
          <a:p>
            <a:pPr indent="0" lvl="0" marL="0" marR="0" rtl="0" algn="l">
              <a:lnSpc>
                <a:spcPct val="160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60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Existe una grave escasez de presupuesto y equipos dedicados para mantener soluciones complejas.</a:t>
            </a:r>
            <a:endParaRPr sz="1200"/>
          </a:p>
        </p:txBody>
      </p:sp>
      <p:pic>
        <p:nvPicPr>
          <p:cNvPr id="168" name="Google Shape;168;p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15738" y="311463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/>
          <p:nvPr/>
        </p:nvSpPr>
        <p:spPr>
          <a:xfrm>
            <a:off x="7132275" y="387875"/>
            <a:ext cx="3064132" cy="882070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9175675" y="208825"/>
            <a:ext cx="1405359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9432322" y="420900"/>
            <a:ext cx="987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Problematica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10902608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81744" y="311097"/>
            <a:ext cx="508992" cy="641049"/>
          </a:xfrm>
          <a:custGeom>
            <a:rect b="b" l="l" r="r" t="t"/>
            <a:pathLst>
              <a:path extrusionOk="0" h="854731" w="678656">
                <a:moveTo>
                  <a:pt x="0" y="0"/>
                </a:moveTo>
                <a:lnTo>
                  <a:pt x="678656" y="0"/>
                </a:lnTo>
                <a:lnTo>
                  <a:pt x="678656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08992" y="471359"/>
            <a:ext cx="254496" cy="320524"/>
          </a:xfrm>
          <a:custGeom>
            <a:rect b="b" l="l" r="r" t="t"/>
            <a:pathLst>
              <a:path extrusionOk="0" h="427366" w="339328">
                <a:moveTo>
                  <a:pt x="0" y="0"/>
                </a:moveTo>
                <a:lnTo>
                  <a:pt x="339328" y="0"/>
                </a:lnTo>
                <a:lnTo>
                  <a:pt x="339328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29924" y="368650"/>
            <a:ext cx="172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K</a:t>
            </a: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</a:t>
            </a:r>
            <a:r>
              <a:rPr b="1" lang="en-US" sz="2000">
                <a:solidFill>
                  <a:srgbClr val="FFFFFF"/>
                </a:solidFill>
              </a:rPr>
              <a:t> </a:t>
            </a:r>
            <a:r>
              <a:rPr b="1" lang="en-US" sz="2000">
                <a:solidFill>
                  <a:srgbClr val="17F9F1"/>
                </a:solidFill>
              </a:rPr>
              <a:t>AI</a:t>
            </a:r>
            <a:endParaRPr sz="2000">
              <a:solidFill>
                <a:srgbClr val="17F9F1"/>
              </a:solidFill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125887" y="311097"/>
            <a:ext cx="890736" cy="480786"/>
          </a:xfrm>
          <a:custGeom>
            <a:rect b="b" l="l" r="r" t="t"/>
            <a:pathLst>
              <a:path extrusionOk="0" h="641049" w="1187648">
                <a:moveTo>
                  <a:pt x="0" y="0"/>
                </a:moveTo>
                <a:lnTo>
                  <a:pt x="1187648" y="0"/>
                </a:lnTo>
                <a:lnTo>
                  <a:pt x="1187648" y="641049"/>
                </a:lnTo>
                <a:lnTo>
                  <a:pt x="0" y="641049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253135" y="471359"/>
            <a:ext cx="254496" cy="320524"/>
          </a:xfrm>
          <a:custGeom>
            <a:rect b="b" l="l" r="r" t="t"/>
            <a:pathLst>
              <a:path extrusionOk="0" h="427366" w="339328">
                <a:moveTo>
                  <a:pt x="0" y="0"/>
                </a:moveTo>
                <a:lnTo>
                  <a:pt x="339328" y="0"/>
                </a:lnTo>
                <a:lnTo>
                  <a:pt x="339328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7409711" y="462997"/>
            <a:ext cx="577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soar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8016625" y="311100"/>
            <a:ext cx="1187224" cy="480787"/>
          </a:xfrm>
          <a:custGeom>
            <a:rect b="b" l="l" r="r" t="t"/>
            <a:pathLst>
              <a:path extrusionOk="0" h="641049" w="1526976">
                <a:moveTo>
                  <a:pt x="0" y="0"/>
                </a:moveTo>
                <a:lnTo>
                  <a:pt x="1526976" y="0"/>
                </a:lnTo>
                <a:lnTo>
                  <a:pt x="1526976" y="641049"/>
                </a:lnTo>
                <a:lnTo>
                  <a:pt x="0" y="641049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093546" y="471359"/>
            <a:ext cx="254496" cy="320525"/>
          </a:xfrm>
          <a:custGeom>
            <a:rect b="b" l="l" r="r" t="t"/>
            <a:pathLst>
              <a:path extrusionOk="0" h="427366" w="339328">
                <a:moveTo>
                  <a:pt x="0" y="0"/>
                </a:moveTo>
                <a:lnTo>
                  <a:pt x="339328" y="0"/>
                </a:lnTo>
                <a:lnTo>
                  <a:pt x="339328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8188659" y="471359"/>
            <a:ext cx="9087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8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seguridad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9034607" y="311097"/>
            <a:ext cx="1272480" cy="480786"/>
          </a:xfrm>
          <a:custGeom>
            <a:rect b="b" l="l" r="r" t="t"/>
            <a:pathLst>
              <a:path extrusionOk="0" h="641049" w="1696640">
                <a:moveTo>
                  <a:pt x="0" y="0"/>
                </a:moveTo>
                <a:lnTo>
                  <a:pt x="1696640" y="0"/>
                </a:lnTo>
                <a:lnTo>
                  <a:pt x="1696640" y="641049"/>
                </a:lnTo>
                <a:lnTo>
                  <a:pt x="0" y="641049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9161855" y="471359"/>
            <a:ext cx="254496" cy="160262"/>
          </a:xfrm>
          <a:custGeom>
            <a:rect b="b" l="l" r="r" t="t"/>
            <a:pathLst>
              <a:path extrusionOk="0" h="213683" w="339328">
                <a:moveTo>
                  <a:pt x="0" y="0"/>
                </a:moveTo>
                <a:lnTo>
                  <a:pt x="339328" y="0"/>
                </a:lnTo>
                <a:lnTo>
                  <a:pt x="339328" y="213683"/>
                </a:lnTo>
                <a:lnTo>
                  <a:pt x="0" y="213683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491686" y="1746484"/>
            <a:ext cx="468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55">
                <a:solidFill>
                  <a:srgbClr val="FFFFFF"/>
                </a:solidFill>
              </a:rPr>
              <a:t>E</a:t>
            </a:r>
            <a:r>
              <a:rPr b="1" lang="en-US" sz="445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 riesgo de la ia y la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1527000" y="2463175"/>
            <a:ext cx="4835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255">
                <a:solidFill>
                  <a:srgbClr val="00E8F1"/>
                </a:solidFill>
              </a:rPr>
              <a:t>solución  de </a:t>
            </a:r>
            <a:r>
              <a:rPr i="1" lang="en-US" sz="4255">
                <a:solidFill>
                  <a:srgbClr val="00E8F1"/>
                </a:solidFill>
              </a:rPr>
              <a:t>K</a:t>
            </a:r>
            <a:r>
              <a:rPr i="1" lang="en-US" sz="4255">
                <a:solidFill>
                  <a:srgbClr val="00E8F1"/>
                </a:solidFill>
              </a:rPr>
              <a:t>ronos</a:t>
            </a:r>
            <a:endParaRPr sz="1200"/>
          </a:p>
        </p:txBody>
      </p:sp>
      <p:sp>
        <p:nvSpPr>
          <p:cNvPr id="191" name="Google Shape;191;p5"/>
          <p:cNvSpPr/>
          <p:nvPr/>
        </p:nvSpPr>
        <p:spPr>
          <a:xfrm>
            <a:off x="381744" y="3459777"/>
            <a:ext cx="5726161" cy="3158107"/>
          </a:xfrm>
          <a:custGeom>
            <a:rect b="b" l="l" r="r" t="t"/>
            <a:pathLst>
              <a:path extrusionOk="0" h="4210809" w="7634880">
                <a:moveTo>
                  <a:pt x="0" y="0"/>
                </a:moveTo>
                <a:lnTo>
                  <a:pt x="7634880" y="0"/>
                </a:lnTo>
                <a:lnTo>
                  <a:pt x="7634880" y="4210809"/>
                </a:lnTo>
                <a:lnTo>
                  <a:pt x="0" y="4210809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81744" y="3299515"/>
            <a:ext cx="381744" cy="641049"/>
          </a:xfrm>
          <a:custGeom>
            <a:rect b="b" l="l" r="r" t="t"/>
            <a:pathLst>
              <a:path extrusionOk="0" h="854731" w="508992">
                <a:moveTo>
                  <a:pt x="0" y="0"/>
                </a:moveTo>
                <a:lnTo>
                  <a:pt x="508992" y="0"/>
                </a:lnTo>
                <a:lnTo>
                  <a:pt x="508992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08992" y="3459777"/>
            <a:ext cx="254496" cy="320524"/>
          </a:xfrm>
          <a:custGeom>
            <a:rect b="b" l="l" r="r" t="t"/>
            <a:pathLst>
              <a:path extrusionOk="0" h="427366" w="339328">
                <a:moveTo>
                  <a:pt x="0" y="0"/>
                </a:moveTo>
                <a:lnTo>
                  <a:pt x="339328" y="0"/>
                </a:lnTo>
                <a:lnTo>
                  <a:pt x="339328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769596" y="3945727"/>
            <a:ext cx="49383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1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El riesgo crítico radica en la vulnerabilidad a Prompt Injection al delegar comandos libres a un LLM. CRONOS AI soluciona esto mediante una automatización basada en selección de menú predefinido. Bajo este esquema de seguridad, el LLM jamás construye instrucciones ejecutables directamente, actuando solo como un clasificador </a:t>
            </a:r>
            <a:r>
              <a:rPr lang="en-US" sz="1200">
                <a:solidFill>
                  <a:srgbClr val="FFFFFF"/>
                </a:solidFill>
              </a:rPr>
              <a:t>determinístico</a:t>
            </a:r>
            <a:r>
              <a:rPr lang="en-US" sz="1200">
                <a:solidFill>
                  <a:srgbClr val="FFFFFF"/>
                </a:solidFill>
              </a:rPr>
              <a:t> que elige opciones validadas sin capacidad de modificar el código subyacente.</a:t>
            </a:r>
            <a:endParaRPr sz="1200"/>
          </a:p>
        </p:txBody>
      </p:sp>
      <p:sp>
        <p:nvSpPr>
          <p:cNvPr id="195" name="Google Shape;195;p5"/>
          <p:cNvSpPr/>
          <p:nvPr/>
        </p:nvSpPr>
        <p:spPr>
          <a:xfrm>
            <a:off x="3435696" y="4562757"/>
            <a:ext cx="2290464" cy="169689"/>
          </a:xfrm>
          <a:custGeom>
            <a:rect b="b" l="l" r="r" t="t"/>
            <a:pathLst>
              <a:path extrusionOk="0" h="226252" w="3053952">
                <a:moveTo>
                  <a:pt x="0" y="0"/>
                </a:moveTo>
                <a:lnTo>
                  <a:pt x="3053952" y="0"/>
                </a:lnTo>
                <a:lnTo>
                  <a:pt x="3053952" y="226252"/>
                </a:lnTo>
                <a:lnTo>
                  <a:pt x="0" y="226252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362400" y="1885437"/>
            <a:ext cx="3944688" cy="4421350"/>
          </a:xfrm>
          <a:custGeom>
            <a:rect b="b" l="l" r="r" t="t"/>
            <a:pathLst>
              <a:path extrusionOk="0" h="5895133" w="5259584">
                <a:moveTo>
                  <a:pt x="0" y="0"/>
                </a:moveTo>
                <a:lnTo>
                  <a:pt x="5259584" y="0"/>
                </a:lnTo>
                <a:lnTo>
                  <a:pt x="5259584" y="5895133"/>
                </a:lnTo>
                <a:lnTo>
                  <a:pt x="0" y="5895133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398367" y="5826000"/>
            <a:ext cx="1654224" cy="320524"/>
          </a:xfrm>
          <a:custGeom>
            <a:rect b="b" l="l" r="r" t="t"/>
            <a:pathLst>
              <a:path extrusionOk="0" h="427366" w="2205632">
                <a:moveTo>
                  <a:pt x="0" y="0"/>
                </a:moveTo>
                <a:lnTo>
                  <a:pt x="2205632" y="0"/>
                </a:lnTo>
                <a:lnTo>
                  <a:pt x="2205632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525615" y="5826000"/>
            <a:ext cx="254496" cy="320524"/>
          </a:xfrm>
          <a:custGeom>
            <a:rect b="b" l="l" r="r" t="t"/>
            <a:pathLst>
              <a:path extrusionOk="0" h="427366" w="339328">
                <a:moveTo>
                  <a:pt x="0" y="0"/>
                </a:moveTo>
                <a:lnTo>
                  <a:pt x="339328" y="0"/>
                </a:lnTo>
                <a:lnTo>
                  <a:pt x="339328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81744" y="6608456"/>
            <a:ext cx="9925343" cy="169689"/>
          </a:xfrm>
          <a:custGeom>
            <a:rect b="b" l="l" r="r" t="t"/>
            <a:pathLst>
              <a:path extrusionOk="0" h="226252" w="13233791">
                <a:moveTo>
                  <a:pt x="0" y="0"/>
                </a:moveTo>
                <a:lnTo>
                  <a:pt x="13233791" y="0"/>
                </a:lnTo>
                <a:lnTo>
                  <a:pt x="13233791" y="226252"/>
                </a:lnTo>
                <a:lnTo>
                  <a:pt x="0" y="226252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118595" y="830559"/>
            <a:ext cx="21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9480843" y="489143"/>
            <a:ext cx="5772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3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ejecución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951306" y="884529"/>
            <a:ext cx="1827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6">
                <a:solidFill>
                  <a:srgbClr val="FFFFFF"/>
                </a:solidFill>
              </a:rPr>
              <a:t>S</a:t>
            </a:r>
            <a:r>
              <a:rPr lang="en-US" sz="966">
                <a:solidFill>
                  <a:srgbClr val="FFFFFF"/>
                </a:solidFill>
              </a:rPr>
              <a:t>eguridad determinística</a:t>
            </a:r>
            <a:endParaRPr sz="1700"/>
          </a:p>
        </p:txBody>
      </p:sp>
      <p:sp>
        <p:nvSpPr>
          <p:cNvPr id="203" name="Google Shape;203;p5"/>
          <p:cNvSpPr txBox="1"/>
          <p:nvPr/>
        </p:nvSpPr>
        <p:spPr>
          <a:xfrm>
            <a:off x="8775530" y="5940616"/>
            <a:ext cx="1154394" cy="82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núcleo determinístico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81738" y="31108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5"/>
          <p:cNvSpPr/>
          <p:nvPr/>
        </p:nvSpPr>
        <p:spPr>
          <a:xfrm>
            <a:off x="7132275" y="387875"/>
            <a:ext cx="3064132" cy="957676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175675" y="208825"/>
            <a:ext cx="113247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Riesgos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/>
          <p:nvPr/>
        </p:nvSpPr>
        <p:spPr>
          <a:xfrm>
            <a:off x="0" y="0"/>
            <a:ext cx="10795720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80944" y="313161"/>
            <a:ext cx="515394" cy="635270"/>
          </a:xfrm>
          <a:custGeom>
            <a:rect b="b" l="l" r="r" t="t"/>
            <a:pathLst>
              <a:path extrusionOk="0" h="847026" w="687193">
                <a:moveTo>
                  <a:pt x="0" y="0"/>
                </a:moveTo>
                <a:lnTo>
                  <a:pt x="687193" y="0"/>
                </a:lnTo>
                <a:lnTo>
                  <a:pt x="687193" y="847026"/>
                </a:lnTo>
                <a:lnTo>
                  <a:pt x="0" y="847026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507925" y="465268"/>
            <a:ext cx="261432" cy="331056"/>
          </a:xfrm>
          <a:custGeom>
            <a:rect b="b" l="l" r="r" t="t"/>
            <a:pathLst>
              <a:path extrusionOk="0" h="441408" w="348576">
                <a:moveTo>
                  <a:pt x="0" y="0"/>
                </a:moveTo>
                <a:lnTo>
                  <a:pt x="348576" y="0"/>
                </a:lnTo>
                <a:lnTo>
                  <a:pt x="348576" y="441408"/>
                </a:lnTo>
                <a:lnTo>
                  <a:pt x="0" y="44140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96353" y="427839"/>
            <a:ext cx="123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</a:t>
            </a:r>
            <a:r>
              <a:rPr lang="en-US" sz="2000">
                <a:solidFill>
                  <a:srgbClr val="FFFFFF"/>
                </a:solidFill>
              </a:rPr>
              <a:t>ronos </a:t>
            </a:r>
            <a:r>
              <a:rPr lang="en-US" sz="2000">
                <a:solidFill>
                  <a:srgbClr val="00F7FF"/>
                </a:solidFill>
              </a:rPr>
              <a:t>AI</a:t>
            </a:r>
            <a:endParaRPr sz="2000"/>
          </a:p>
        </p:txBody>
      </p:sp>
      <p:sp>
        <p:nvSpPr>
          <p:cNvPr id="217" name="Google Shape;217;p6"/>
          <p:cNvSpPr/>
          <p:nvPr/>
        </p:nvSpPr>
        <p:spPr>
          <a:xfrm>
            <a:off x="7379850" y="313161"/>
            <a:ext cx="1277282" cy="483163"/>
          </a:xfrm>
          <a:custGeom>
            <a:rect b="b" l="l" r="r" t="t"/>
            <a:pathLst>
              <a:path extrusionOk="0" h="644217" w="1703042">
                <a:moveTo>
                  <a:pt x="0" y="0"/>
                </a:moveTo>
                <a:lnTo>
                  <a:pt x="1703042" y="0"/>
                </a:lnTo>
                <a:lnTo>
                  <a:pt x="1703042" y="644217"/>
                </a:lnTo>
                <a:lnTo>
                  <a:pt x="0" y="6442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506831" y="465268"/>
            <a:ext cx="261432" cy="331056"/>
          </a:xfrm>
          <a:custGeom>
            <a:rect b="b" l="l" r="r" t="t"/>
            <a:pathLst>
              <a:path extrusionOk="0" h="441408" w="348576">
                <a:moveTo>
                  <a:pt x="0" y="0"/>
                </a:moveTo>
                <a:lnTo>
                  <a:pt x="348576" y="0"/>
                </a:lnTo>
                <a:lnTo>
                  <a:pt x="348576" y="441408"/>
                </a:lnTo>
                <a:lnTo>
                  <a:pt x="0" y="44140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8649662" y="313161"/>
            <a:ext cx="1150300" cy="483163"/>
          </a:xfrm>
          <a:custGeom>
            <a:rect b="b" l="l" r="r" t="t"/>
            <a:pathLst>
              <a:path extrusionOk="0" h="644217" w="1533734">
                <a:moveTo>
                  <a:pt x="0" y="0"/>
                </a:moveTo>
                <a:lnTo>
                  <a:pt x="1533734" y="0"/>
                </a:lnTo>
                <a:lnTo>
                  <a:pt x="1533734" y="644217"/>
                </a:lnTo>
                <a:lnTo>
                  <a:pt x="0" y="644217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8776643" y="465268"/>
            <a:ext cx="261432" cy="331056"/>
          </a:xfrm>
          <a:custGeom>
            <a:rect b="b" l="l" r="r" t="t"/>
            <a:pathLst>
              <a:path extrusionOk="0" h="441408" w="348576">
                <a:moveTo>
                  <a:pt x="0" y="0"/>
                </a:moveTo>
                <a:lnTo>
                  <a:pt x="348576" y="0"/>
                </a:lnTo>
                <a:lnTo>
                  <a:pt x="348576" y="441408"/>
                </a:lnTo>
                <a:lnTo>
                  <a:pt x="0" y="441408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9015623" y="506230"/>
            <a:ext cx="566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Seguridad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9792493" y="313161"/>
            <a:ext cx="388413" cy="483163"/>
          </a:xfrm>
          <a:custGeom>
            <a:rect b="b" l="l" r="r" t="t"/>
            <a:pathLst>
              <a:path extrusionOk="0" h="644217" w="517884">
                <a:moveTo>
                  <a:pt x="0" y="0"/>
                </a:moveTo>
                <a:lnTo>
                  <a:pt x="517884" y="0"/>
                </a:lnTo>
                <a:lnTo>
                  <a:pt x="517884" y="644217"/>
                </a:lnTo>
                <a:lnTo>
                  <a:pt x="0" y="644217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80944" y="2201075"/>
            <a:ext cx="4840225" cy="4258990"/>
          </a:xfrm>
          <a:custGeom>
            <a:rect b="b" l="l" r="r" t="t"/>
            <a:pathLst>
              <a:path extrusionOk="0" h="5678653" w="6453634">
                <a:moveTo>
                  <a:pt x="0" y="0"/>
                </a:moveTo>
                <a:lnTo>
                  <a:pt x="6453634" y="0"/>
                </a:lnTo>
                <a:lnTo>
                  <a:pt x="6453634" y="5678653"/>
                </a:lnTo>
                <a:lnTo>
                  <a:pt x="0" y="5678653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80944" y="6451117"/>
            <a:ext cx="261432" cy="322108"/>
          </a:xfrm>
          <a:custGeom>
            <a:rect b="b" l="l" r="r" t="t"/>
            <a:pathLst>
              <a:path extrusionOk="0" h="429478" w="348576">
                <a:moveTo>
                  <a:pt x="0" y="0"/>
                </a:moveTo>
                <a:lnTo>
                  <a:pt x="348576" y="0"/>
                </a:lnTo>
                <a:lnTo>
                  <a:pt x="348576" y="429478"/>
                </a:lnTo>
                <a:lnTo>
                  <a:pt x="0" y="429478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5536815" y="1729566"/>
            <a:ext cx="2864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67">
                <a:solidFill>
                  <a:srgbClr val="FFFFFF"/>
                </a:solidFill>
              </a:rPr>
              <a:t>Principio arquitectónico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5536815" y="2932682"/>
            <a:ext cx="1314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39">
                <a:solidFill>
                  <a:srgbClr val="37B6F1"/>
                </a:solidFill>
              </a:rPr>
              <a:t>Central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5467662" y="3614773"/>
            <a:ext cx="4713244" cy="3793722"/>
          </a:xfrm>
          <a:custGeom>
            <a:rect b="b" l="l" r="r" t="t"/>
            <a:pathLst>
              <a:path extrusionOk="0" h="5058296" w="6284326">
                <a:moveTo>
                  <a:pt x="0" y="0"/>
                </a:moveTo>
                <a:lnTo>
                  <a:pt x="6284326" y="0"/>
                </a:lnTo>
                <a:lnTo>
                  <a:pt x="6284326" y="5058296"/>
                </a:lnTo>
                <a:lnTo>
                  <a:pt x="0" y="5058296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467662" y="3614773"/>
            <a:ext cx="642376" cy="170002"/>
          </a:xfrm>
          <a:custGeom>
            <a:rect b="b" l="l" r="r" t="t"/>
            <a:pathLst>
              <a:path extrusionOk="0" h="226669" w="856501">
                <a:moveTo>
                  <a:pt x="0" y="0"/>
                </a:moveTo>
                <a:lnTo>
                  <a:pt x="856501" y="0"/>
                </a:lnTo>
                <a:lnTo>
                  <a:pt x="856501" y="226669"/>
                </a:lnTo>
                <a:lnTo>
                  <a:pt x="0" y="226669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5814724" y="4107742"/>
            <a:ext cx="316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F7FF"/>
                </a:solidFill>
              </a:rPr>
              <a:t>Seguridad mediante separación estricta</a:t>
            </a:r>
            <a:endParaRPr sz="1200"/>
          </a:p>
        </p:txBody>
      </p:sp>
      <p:sp>
        <p:nvSpPr>
          <p:cNvPr id="230" name="Google Shape;230;p6"/>
          <p:cNvSpPr txBox="1"/>
          <p:nvPr/>
        </p:nvSpPr>
        <p:spPr>
          <a:xfrm>
            <a:off x="5814724" y="4437146"/>
            <a:ext cx="4083000" cy="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99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Cada de Decisión (Ollama 7B): Clasifica en dos pasos (Familia y Playbook) devolviendo solo.JSON, evitando la ejecución directa de código por la IA.</a:t>
            </a:r>
            <a:endParaRPr sz="1200"/>
          </a:p>
        </p:txBody>
      </p:sp>
      <p:sp>
        <p:nvSpPr>
          <p:cNvPr id="231" name="Google Shape;231;p6"/>
          <p:cNvSpPr/>
          <p:nvPr/>
        </p:nvSpPr>
        <p:spPr>
          <a:xfrm>
            <a:off x="5753563" y="5215258"/>
            <a:ext cx="4205320" cy="161054"/>
          </a:xfrm>
          <a:custGeom>
            <a:rect b="b" l="l" r="r" t="t"/>
            <a:pathLst>
              <a:path extrusionOk="0" h="214739" w="5607093">
                <a:moveTo>
                  <a:pt x="0" y="0"/>
                </a:moveTo>
                <a:lnTo>
                  <a:pt x="5607093" y="0"/>
                </a:lnTo>
                <a:lnTo>
                  <a:pt x="5607093" y="214739"/>
                </a:lnTo>
                <a:lnTo>
                  <a:pt x="0" y="214739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814724" y="5721867"/>
            <a:ext cx="3944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Cada de Ejecución (n8n + Python): Único componente autorizado para interactuar con la infraestructura, garantizando una respuesta determinística y auditable.</a:t>
            </a:r>
            <a:endParaRPr sz="1200"/>
          </a:p>
        </p:txBody>
      </p:sp>
      <p:sp>
        <p:nvSpPr>
          <p:cNvPr id="233" name="Google Shape;233;p6"/>
          <p:cNvSpPr/>
          <p:nvPr/>
        </p:nvSpPr>
        <p:spPr>
          <a:xfrm>
            <a:off x="5721625" y="6612172"/>
            <a:ext cx="261432" cy="483163"/>
          </a:xfrm>
          <a:custGeom>
            <a:rect b="b" l="l" r="r" t="t"/>
            <a:pathLst>
              <a:path extrusionOk="0" h="644217" w="348576">
                <a:moveTo>
                  <a:pt x="0" y="0"/>
                </a:moveTo>
                <a:lnTo>
                  <a:pt x="348576" y="0"/>
                </a:lnTo>
                <a:lnTo>
                  <a:pt x="348576" y="644217"/>
                </a:lnTo>
                <a:lnTo>
                  <a:pt x="0" y="644217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483512" y="0"/>
            <a:ext cx="134451" cy="4258990"/>
          </a:xfrm>
          <a:custGeom>
            <a:rect b="b" l="l" r="r" t="t"/>
            <a:pathLst>
              <a:path extrusionOk="0" h="5678653" w="179268">
                <a:moveTo>
                  <a:pt x="0" y="0"/>
                </a:moveTo>
                <a:lnTo>
                  <a:pt x="179268" y="0"/>
                </a:lnTo>
                <a:lnTo>
                  <a:pt x="179268" y="5678653"/>
                </a:lnTo>
                <a:lnTo>
                  <a:pt x="0" y="5678653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0" y="4905428"/>
            <a:ext cx="10688831" cy="170002"/>
          </a:xfrm>
          <a:custGeom>
            <a:rect b="b" l="l" r="r" t="t"/>
            <a:pathLst>
              <a:path extrusionOk="0" h="226669" w="14251775">
                <a:moveTo>
                  <a:pt x="0" y="0"/>
                </a:moveTo>
                <a:lnTo>
                  <a:pt x="14251775" y="0"/>
                </a:lnTo>
                <a:lnTo>
                  <a:pt x="14251775" y="226669"/>
                </a:lnTo>
                <a:lnTo>
                  <a:pt x="0" y="226669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7728039" y="522042"/>
            <a:ext cx="7482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Arquitectura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8871730" y="464039"/>
            <a:ext cx="7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9940613" y="464039"/>
            <a:ext cx="160332" cy="149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523753" y="852101"/>
            <a:ext cx="2886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5">
                <a:solidFill>
                  <a:srgbClr val="FFFFFF"/>
                </a:solidFill>
              </a:rPr>
              <a:t>Soar con IA y ejecución determinística</a:t>
            </a:r>
            <a:endParaRPr sz="1700"/>
          </a:p>
        </p:txBody>
      </p:sp>
      <p:sp>
        <p:nvSpPr>
          <p:cNvPr id="240" name="Google Shape;240;p6"/>
          <p:cNvSpPr txBox="1"/>
          <p:nvPr/>
        </p:nvSpPr>
        <p:spPr>
          <a:xfrm>
            <a:off x="641324" y="6520200"/>
            <a:ext cx="432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FFFFFF"/>
                </a:solidFill>
              </a:rPr>
              <a:t>Visualización del flujo de segregación de capas técnicas</a:t>
            </a:r>
            <a:endParaRPr sz="1200"/>
          </a:p>
        </p:txBody>
      </p:sp>
      <p:pic>
        <p:nvPicPr>
          <p:cNvPr id="241" name="Google Shape;241;p6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48463" y="31313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/>
          <p:nvPr/>
        </p:nvSpPr>
        <p:spPr>
          <a:xfrm>
            <a:off x="7132273" y="387875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9175675" y="208825"/>
            <a:ext cx="1313260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9432323" y="420900"/>
            <a:ext cx="916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Arquitectura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0" y="0"/>
            <a:ext cx="10831349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80944" y="311097"/>
            <a:ext cx="515394" cy="641049"/>
          </a:xfrm>
          <a:custGeom>
            <a:rect b="b" l="l" r="r" t="t"/>
            <a:pathLst>
              <a:path extrusionOk="0" h="854731" w="687193">
                <a:moveTo>
                  <a:pt x="0" y="0"/>
                </a:moveTo>
                <a:lnTo>
                  <a:pt x="687193" y="0"/>
                </a:lnTo>
                <a:lnTo>
                  <a:pt x="687193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07925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961995" y="374418"/>
            <a:ext cx="123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K</a:t>
            </a:r>
            <a:r>
              <a:rPr b="1" lang="en-US" sz="2000">
                <a:solidFill>
                  <a:srgbClr val="FFFFFF"/>
                </a:solidFill>
              </a:rPr>
              <a:t>ronos </a:t>
            </a:r>
            <a:r>
              <a:rPr b="1" lang="en-US" sz="2000">
                <a:solidFill>
                  <a:srgbClr val="17F9F1"/>
                </a:solidFill>
              </a:rPr>
              <a:t>AI</a:t>
            </a:r>
            <a:endParaRPr sz="2000">
              <a:solidFill>
                <a:srgbClr val="17F9F1"/>
              </a:solidFill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125887" y="311097"/>
            <a:ext cx="896338" cy="641049"/>
          </a:xfrm>
          <a:custGeom>
            <a:rect b="b" l="l" r="r" t="t"/>
            <a:pathLst>
              <a:path extrusionOk="0" h="854731" w="1195117">
                <a:moveTo>
                  <a:pt x="0" y="0"/>
                </a:moveTo>
                <a:lnTo>
                  <a:pt x="1195117" y="0"/>
                </a:lnTo>
                <a:lnTo>
                  <a:pt x="1195117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252869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8014756" y="311097"/>
            <a:ext cx="642376" cy="641049"/>
          </a:xfrm>
          <a:custGeom>
            <a:rect b="b" l="l" r="r" t="t"/>
            <a:pathLst>
              <a:path extrusionOk="0" h="854731" w="856501">
                <a:moveTo>
                  <a:pt x="0" y="0"/>
                </a:moveTo>
                <a:lnTo>
                  <a:pt x="856501" y="0"/>
                </a:lnTo>
                <a:lnTo>
                  <a:pt x="856501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141737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649662" y="311097"/>
            <a:ext cx="1150300" cy="641049"/>
          </a:xfrm>
          <a:custGeom>
            <a:rect b="b" l="l" r="r" t="t"/>
            <a:pathLst>
              <a:path extrusionOk="0" h="854731" w="1533734">
                <a:moveTo>
                  <a:pt x="0" y="0"/>
                </a:moveTo>
                <a:lnTo>
                  <a:pt x="1533734" y="0"/>
                </a:lnTo>
                <a:lnTo>
                  <a:pt x="1533734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8776643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9792493" y="311097"/>
            <a:ext cx="515394" cy="641049"/>
          </a:xfrm>
          <a:custGeom>
            <a:rect b="b" l="l" r="r" t="t"/>
            <a:pathLst>
              <a:path extrusionOk="0" h="854731" w="687193">
                <a:moveTo>
                  <a:pt x="0" y="0"/>
                </a:moveTo>
                <a:lnTo>
                  <a:pt x="687193" y="0"/>
                </a:lnTo>
                <a:lnTo>
                  <a:pt x="687193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919474" y="471359"/>
            <a:ext cx="261432" cy="320524"/>
          </a:xfrm>
          <a:custGeom>
            <a:rect b="b" l="l" r="r" t="t"/>
            <a:pathLst>
              <a:path extrusionOk="0" h="427366" w="348576">
                <a:moveTo>
                  <a:pt x="0" y="0"/>
                </a:moveTo>
                <a:lnTo>
                  <a:pt x="348576" y="0"/>
                </a:lnTo>
                <a:lnTo>
                  <a:pt x="348576" y="427366"/>
                </a:lnTo>
                <a:lnTo>
                  <a:pt x="0" y="427366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80950" y="1725175"/>
            <a:ext cx="2420113" cy="4489823"/>
          </a:xfrm>
          <a:custGeom>
            <a:rect b="b" l="l" r="r" t="t"/>
            <a:pathLst>
              <a:path extrusionOk="0" h="5266654" w="3226817">
                <a:moveTo>
                  <a:pt x="0" y="0"/>
                </a:moveTo>
                <a:lnTo>
                  <a:pt x="3226817" y="0"/>
                </a:lnTo>
                <a:lnTo>
                  <a:pt x="3226817" y="5266654"/>
                </a:lnTo>
                <a:lnTo>
                  <a:pt x="0" y="5266654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3570076" y="1529125"/>
            <a:ext cx="4163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50">
                <a:solidFill>
                  <a:srgbClr val="FFFFFF"/>
                </a:solidFill>
              </a:rPr>
              <a:t>Las cuatro restricciones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4036774" y="2031638"/>
            <a:ext cx="3089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38">
                <a:solidFill>
                  <a:srgbClr val="00FFFF"/>
                </a:solidFill>
              </a:rPr>
              <a:t>no negociables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801075" y="2529400"/>
            <a:ext cx="5091997" cy="3684458"/>
          </a:xfrm>
          <a:custGeom>
            <a:rect b="b" l="l" r="r" t="t"/>
            <a:pathLst>
              <a:path extrusionOk="0" h="4210809" w="5786360">
                <a:moveTo>
                  <a:pt x="0" y="0"/>
                </a:moveTo>
                <a:lnTo>
                  <a:pt x="5786360" y="0"/>
                </a:lnTo>
                <a:lnTo>
                  <a:pt x="5786360" y="4210809"/>
                </a:lnTo>
                <a:lnTo>
                  <a:pt x="0" y="4210809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086718" y="2517058"/>
            <a:ext cx="515394" cy="641049"/>
          </a:xfrm>
          <a:custGeom>
            <a:rect b="b" l="l" r="r" t="t"/>
            <a:pathLst>
              <a:path extrusionOk="0" h="854731" w="687193">
                <a:moveTo>
                  <a:pt x="0" y="0"/>
                </a:moveTo>
                <a:lnTo>
                  <a:pt x="687193" y="0"/>
                </a:lnTo>
                <a:lnTo>
                  <a:pt x="687193" y="854731"/>
                </a:lnTo>
                <a:lnTo>
                  <a:pt x="0" y="854731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3207538" y="3237300"/>
            <a:ext cx="4278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Catálogo cerrado de 25 playbooks previamente auditados</a:t>
            </a:r>
            <a:endParaRPr sz="1200"/>
          </a:p>
        </p:txBody>
      </p:sp>
      <p:sp>
        <p:nvSpPr>
          <p:cNvPr id="268" name="Google Shape;268;p7"/>
          <p:cNvSpPr txBox="1"/>
          <p:nvPr/>
        </p:nvSpPr>
        <p:spPr>
          <a:xfrm>
            <a:off x="2954650" y="3901375"/>
            <a:ext cx="525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Lista de exclusión de activos críticos para evitar daños  colaterales</a:t>
            </a:r>
            <a:endParaRPr sz="1200"/>
          </a:p>
        </p:txBody>
      </p:sp>
      <p:sp>
        <p:nvSpPr>
          <p:cNvPr id="269" name="Google Shape;269;p7"/>
          <p:cNvSpPr txBox="1"/>
          <p:nvPr/>
        </p:nvSpPr>
        <p:spPr>
          <a:xfrm>
            <a:off x="3313538" y="4423578"/>
            <a:ext cx="406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Limitador de tasa y sistema de </a:t>
            </a:r>
            <a:r>
              <a:rPr b="1" lang="en-US" sz="1200">
                <a:solidFill>
                  <a:srgbClr val="FFFFFF"/>
                </a:solidFill>
              </a:rPr>
              <a:t>cortocircuito</a:t>
            </a:r>
            <a:r>
              <a:rPr b="1" lang="en-US" sz="1200">
                <a:solidFill>
                  <a:srgbClr val="FFFFFF"/>
                </a:solidFill>
              </a:rPr>
              <a:t> integrado</a:t>
            </a:r>
            <a:endParaRPr sz="1200"/>
          </a:p>
        </p:txBody>
      </p:sp>
      <p:sp>
        <p:nvSpPr>
          <p:cNvPr id="270" name="Google Shape;270;p7"/>
          <p:cNvSpPr txBox="1"/>
          <p:nvPr/>
        </p:nvSpPr>
        <p:spPr>
          <a:xfrm>
            <a:off x="3313538" y="5035986"/>
            <a:ext cx="406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Auditabilidad total obligatoria previa a cualquier acción</a:t>
            </a:r>
            <a:endParaRPr sz="1200"/>
          </a:p>
        </p:txBody>
      </p:sp>
      <p:sp>
        <p:nvSpPr>
          <p:cNvPr id="271" name="Google Shape;271;p7"/>
          <p:cNvSpPr/>
          <p:nvPr/>
        </p:nvSpPr>
        <p:spPr>
          <a:xfrm>
            <a:off x="7887775" y="1725175"/>
            <a:ext cx="2420113" cy="4397656"/>
          </a:xfrm>
          <a:custGeom>
            <a:rect b="b" l="l" r="r" t="t"/>
            <a:pathLst>
              <a:path extrusionOk="0" h="5266654" w="3226817">
                <a:moveTo>
                  <a:pt x="0" y="0"/>
                </a:moveTo>
                <a:lnTo>
                  <a:pt x="3226817" y="0"/>
                </a:lnTo>
                <a:lnTo>
                  <a:pt x="3226817" y="5266654"/>
                </a:lnTo>
                <a:lnTo>
                  <a:pt x="0" y="5266654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7503590" y="524518"/>
            <a:ext cx="3420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Soar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8380082" y="524530"/>
            <a:ext cx="1068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ia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9010362" y="530970"/>
            <a:ext cx="5559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seguridad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961995" y="880616"/>
            <a:ext cx="183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seguridad determinística</a:t>
            </a:r>
            <a:endParaRPr sz="900"/>
          </a:p>
        </p:txBody>
      </p:sp>
      <p:pic>
        <p:nvPicPr>
          <p:cNvPr id="276" name="Google Shape;276;p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43238" y="31108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7132275" y="387875"/>
            <a:ext cx="3064132" cy="1008080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9175675" y="208825"/>
            <a:ext cx="1303027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9432323" y="420900"/>
            <a:ext cx="8964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Restricciones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-140500" y="0"/>
            <a:ext cx="11008015" cy="7562174"/>
          </a:xfrm>
          <a:custGeom>
            <a:rect b="b" l="l" r="r" t="t"/>
            <a:pathLst>
              <a:path extrusionOk="0" h="10082899" w="14249857">
                <a:moveTo>
                  <a:pt x="0" y="0"/>
                </a:moveTo>
                <a:lnTo>
                  <a:pt x="14249857" y="0"/>
                </a:lnTo>
                <a:lnTo>
                  <a:pt x="14249857" y="10082899"/>
                </a:lnTo>
                <a:lnTo>
                  <a:pt x="0" y="1008289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33857" y="0"/>
            <a:ext cx="542792" cy="440686"/>
          </a:xfrm>
          <a:custGeom>
            <a:rect b="b" l="l" r="r" t="t"/>
            <a:pathLst>
              <a:path extrusionOk="0" h="587581" w="723723">
                <a:moveTo>
                  <a:pt x="0" y="0"/>
                </a:moveTo>
                <a:lnTo>
                  <a:pt x="723723" y="0"/>
                </a:lnTo>
                <a:lnTo>
                  <a:pt x="723723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64876" y="0"/>
            <a:ext cx="280755" cy="440686"/>
          </a:xfrm>
          <a:custGeom>
            <a:rect b="b" l="l" r="r" t="t"/>
            <a:pathLst>
              <a:path extrusionOk="0" h="587581" w="374340">
                <a:moveTo>
                  <a:pt x="0" y="0"/>
                </a:moveTo>
                <a:lnTo>
                  <a:pt x="374340" y="0"/>
                </a:lnTo>
                <a:lnTo>
                  <a:pt x="374340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697519" y="51240"/>
            <a:ext cx="1432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4">
                <a:solidFill>
                  <a:srgbClr val="FFFFFF"/>
                </a:solidFill>
              </a:rPr>
              <a:t>K</a:t>
            </a:r>
            <a:r>
              <a:rPr lang="en-US" sz="2064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</a:t>
            </a:r>
            <a:r>
              <a:rPr lang="en-US" sz="2064">
                <a:solidFill>
                  <a:srgbClr val="FFFFFF"/>
                </a:solidFill>
              </a:rPr>
              <a:t> </a:t>
            </a:r>
            <a:r>
              <a:rPr lang="en-US" sz="2064">
                <a:solidFill>
                  <a:srgbClr val="17F9F1"/>
                </a:solidFill>
              </a:rPr>
              <a:t>AI</a:t>
            </a:r>
            <a:endParaRPr>
              <a:solidFill>
                <a:srgbClr val="17F9F1"/>
              </a:solidFill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133857" y="722725"/>
            <a:ext cx="271396" cy="299667"/>
          </a:xfrm>
          <a:custGeom>
            <a:rect b="b" l="l" r="r" t="t"/>
            <a:pathLst>
              <a:path extrusionOk="0" h="399555" w="361862">
                <a:moveTo>
                  <a:pt x="0" y="0"/>
                </a:moveTo>
                <a:lnTo>
                  <a:pt x="361862" y="0"/>
                </a:lnTo>
                <a:lnTo>
                  <a:pt x="361862" y="399555"/>
                </a:lnTo>
                <a:lnTo>
                  <a:pt x="0" y="39955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248650" y="985225"/>
            <a:ext cx="252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Niveles  de</a:t>
            </a:r>
            <a:endParaRPr sz="3000"/>
          </a:p>
        </p:txBody>
      </p:sp>
      <p:sp>
        <p:nvSpPr>
          <p:cNvPr id="291" name="Google Shape;291;p8"/>
          <p:cNvSpPr txBox="1"/>
          <p:nvPr/>
        </p:nvSpPr>
        <p:spPr>
          <a:xfrm>
            <a:off x="2391000" y="984025"/>
            <a:ext cx="21810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1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133857" y="1745117"/>
            <a:ext cx="10294336" cy="1454264"/>
          </a:xfrm>
          <a:custGeom>
            <a:rect b="b" l="l" r="r" t="t"/>
            <a:pathLst>
              <a:path extrusionOk="0" h="1939019" w="13725782">
                <a:moveTo>
                  <a:pt x="0" y="0"/>
                </a:moveTo>
                <a:lnTo>
                  <a:pt x="13725782" y="0"/>
                </a:lnTo>
                <a:lnTo>
                  <a:pt x="13725782" y="1939019"/>
                </a:lnTo>
                <a:lnTo>
                  <a:pt x="0" y="1939019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73076" y="2049625"/>
            <a:ext cx="69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LVL.0</a:t>
            </a:r>
            <a:endParaRPr sz="1200"/>
          </a:p>
        </p:txBody>
      </p:sp>
      <p:sp>
        <p:nvSpPr>
          <p:cNvPr id="294" name="Google Shape;294;p8"/>
          <p:cNvSpPr txBox="1"/>
          <p:nvPr/>
        </p:nvSpPr>
        <p:spPr>
          <a:xfrm>
            <a:off x="473071" y="2435299"/>
            <a:ext cx="130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impacto</a:t>
            </a:r>
            <a:endParaRPr sz="1200"/>
          </a:p>
        </p:txBody>
      </p:sp>
      <p:sp>
        <p:nvSpPr>
          <p:cNvPr id="295" name="Google Shape;295;p8"/>
          <p:cNvSpPr txBox="1"/>
          <p:nvPr/>
        </p:nvSpPr>
        <p:spPr>
          <a:xfrm>
            <a:off x="473075" y="2778375"/>
            <a:ext cx="662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Acciones </a:t>
            </a:r>
            <a:r>
              <a:rPr lang="en-US" sz="1200">
                <a:solidFill>
                  <a:srgbClr val="FFFFFF"/>
                </a:solidFill>
              </a:rPr>
              <a:t>automáticas</a:t>
            </a:r>
            <a:r>
              <a:rPr lang="en-US" sz="1200">
                <a:solidFill>
                  <a:srgbClr val="FFFFFF"/>
                </a:solidFill>
              </a:rPr>
              <a:t> e inmediatas ejecutadas sin latencia para eventos de riesgo nulo.</a:t>
            </a:r>
            <a:endParaRPr sz="1200"/>
          </a:p>
        </p:txBody>
      </p:sp>
      <p:sp>
        <p:nvSpPr>
          <p:cNvPr id="296" name="Google Shape;296;p8"/>
          <p:cNvSpPr/>
          <p:nvPr/>
        </p:nvSpPr>
        <p:spPr>
          <a:xfrm>
            <a:off x="9754383" y="2035970"/>
            <a:ext cx="402415" cy="290853"/>
          </a:xfrm>
          <a:custGeom>
            <a:rect b="b" l="l" r="r" t="t"/>
            <a:pathLst>
              <a:path extrusionOk="0" h="387804" w="536553">
                <a:moveTo>
                  <a:pt x="0" y="0"/>
                </a:moveTo>
                <a:lnTo>
                  <a:pt x="536553" y="0"/>
                </a:lnTo>
                <a:lnTo>
                  <a:pt x="536553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9885401" y="2035970"/>
            <a:ext cx="271396" cy="290853"/>
          </a:xfrm>
          <a:custGeom>
            <a:rect b="b" l="l" r="r" t="t"/>
            <a:pathLst>
              <a:path extrusionOk="0" h="387804" w="361862">
                <a:moveTo>
                  <a:pt x="0" y="0"/>
                </a:moveTo>
                <a:lnTo>
                  <a:pt x="361862" y="0"/>
                </a:lnTo>
                <a:lnTo>
                  <a:pt x="361862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33857" y="3199381"/>
            <a:ext cx="10294336" cy="1313245"/>
          </a:xfrm>
          <a:custGeom>
            <a:rect b="b" l="l" r="r" t="t"/>
            <a:pathLst>
              <a:path extrusionOk="0" h="1750993" w="13725782">
                <a:moveTo>
                  <a:pt x="0" y="0"/>
                </a:moveTo>
                <a:lnTo>
                  <a:pt x="13725782" y="0"/>
                </a:lnTo>
                <a:lnTo>
                  <a:pt x="13725782" y="1750993"/>
                </a:lnTo>
                <a:lnTo>
                  <a:pt x="0" y="1750993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9754383" y="3340401"/>
            <a:ext cx="402415" cy="440686"/>
          </a:xfrm>
          <a:custGeom>
            <a:rect b="b" l="l" r="r" t="t"/>
            <a:pathLst>
              <a:path extrusionOk="0" h="587581" w="536553">
                <a:moveTo>
                  <a:pt x="0" y="0"/>
                </a:moveTo>
                <a:lnTo>
                  <a:pt x="536553" y="0"/>
                </a:lnTo>
                <a:lnTo>
                  <a:pt x="536553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9885401" y="3490234"/>
            <a:ext cx="271396" cy="290853"/>
          </a:xfrm>
          <a:custGeom>
            <a:rect b="b" l="l" r="r" t="t"/>
            <a:pathLst>
              <a:path extrusionOk="0" h="387804" w="361862">
                <a:moveTo>
                  <a:pt x="0" y="0"/>
                </a:moveTo>
                <a:lnTo>
                  <a:pt x="361862" y="0"/>
                </a:lnTo>
                <a:lnTo>
                  <a:pt x="361862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133857" y="4653645"/>
            <a:ext cx="10294336" cy="1313245"/>
          </a:xfrm>
          <a:custGeom>
            <a:rect b="b" l="l" r="r" t="t"/>
            <a:pathLst>
              <a:path extrusionOk="0" h="1750993" w="13725782">
                <a:moveTo>
                  <a:pt x="0" y="0"/>
                </a:moveTo>
                <a:lnTo>
                  <a:pt x="13725782" y="0"/>
                </a:lnTo>
                <a:lnTo>
                  <a:pt x="13725782" y="1750993"/>
                </a:lnTo>
                <a:lnTo>
                  <a:pt x="0" y="1750993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473072" y="4893000"/>
            <a:ext cx="542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7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LVL.2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473074" y="5271125"/>
            <a:ext cx="13962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humano</a:t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9754383" y="4794665"/>
            <a:ext cx="402415" cy="440686"/>
          </a:xfrm>
          <a:custGeom>
            <a:rect b="b" l="l" r="r" t="t"/>
            <a:pathLst>
              <a:path extrusionOk="0" h="587581" w="536553">
                <a:moveTo>
                  <a:pt x="0" y="0"/>
                </a:moveTo>
                <a:lnTo>
                  <a:pt x="536553" y="0"/>
                </a:lnTo>
                <a:lnTo>
                  <a:pt x="536553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9885401" y="4944498"/>
            <a:ext cx="271396" cy="149833"/>
          </a:xfrm>
          <a:custGeom>
            <a:rect b="b" l="l" r="r" t="t"/>
            <a:pathLst>
              <a:path extrusionOk="0" h="199778" w="361862">
                <a:moveTo>
                  <a:pt x="0" y="0"/>
                </a:moveTo>
                <a:lnTo>
                  <a:pt x="361862" y="0"/>
                </a:lnTo>
                <a:lnTo>
                  <a:pt x="361862" y="199778"/>
                </a:lnTo>
                <a:lnTo>
                  <a:pt x="0" y="199778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133857" y="5958076"/>
            <a:ext cx="10294336" cy="1463077"/>
          </a:xfrm>
          <a:custGeom>
            <a:rect b="b" l="l" r="r" t="t"/>
            <a:pathLst>
              <a:path extrusionOk="0" h="1950770" w="13725782">
                <a:moveTo>
                  <a:pt x="0" y="0"/>
                </a:moveTo>
                <a:lnTo>
                  <a:pt x="13725782" y="0"/>
                </a:lnTo>
                <a:lnTo>
                  <a:pt x="13725782" y="1950770"/>
                </a:lnTo>
                <a:lnTo>
                  <a:pt x="0" y="195077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473073" y="6692800"/>
            <a:ext cx="10728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Continuidad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473070" y="7023675"/>
            <a:ext cx="675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Aprobación humana obligatoria en niveles críticos de impacto de servicio.</a:t>
            </a:r>
            <a:endParaRPr sz="1200"/>
          </a:p>
        </p:txBody>
      </p:sp>
      <p:sp>
        <p:nvSpPr>
          <p:cNvPr id="309" name="Google Shape;309;p8"/>
          <p:cNvSpPr/>
          <p:nvPr/>
        </p:nvSpPr>
        <p:spPr>
          <a:xfrm>
            <a:off x="9754383" y="6248929"/>
            <a:ext cx="402415" cy="440686"/>
          </a:xfrm>
          <a:custGeom>
            <a:rect b="b" l="l" r="r" t="t"/>
            <a:pathLst>
              <a:path extrusionOk="0" h="587581" w="536553">
                <a:moveTo>
                  <a:pt x="0" y="0"/>
                </a:moveTo>
                <a:lnTo>
                  <a:pt x="536553" y="0"/>
                </a:lnTo>
                <a:lnTo>
                  <a:pt x="536553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9885401" y="6248929"/>
            <a:ext cx="271396" cy="299667"/>
          </a:xfrm>
          <a:custGeom>
            <a:rect b="b" l="l" r="r" t="t"/>
            <a:pathLst>
              <a:path extrusionOk="0" h="399555" w="361862">
                <a:moveTo>
                  <a:pt x="0" y="0"/>
                </a:moveTo>
                <a:lnTo>
                  <a:pt x="361862" y="0"/>
                </a:lnTo>
                <a:lnTo>
                  <a:pt x="361862" y="399555"/>
                </a:lnTo>
                <a:lnTo>
                  <a:pt x="0" y="399555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013704" y="0"/>
            <a:ext cx="1207245" cy="440686"/>
          </a:xfrm>
          <a:custGeom>
            <a:rect b="b" l="l" r="r" t="t"/>
            <a:pathLst>
              <a:path extrusionOk="0" h="587581" w="1609660">
                <a:moveTo>
                  <a:pt x="0" y="0"/>
                </a:moveTo>
                <a:lnTo>
                  <a:pt x="1609660" y="0"/>
                </a:lnTo>
                <a:lnTo>
                  <a:pt x="1609660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144723" y="0"/>
            <a:ext cx="280755" cy="290853"/>
          </a:xfrm>
          <a:custGeom>
            <a:rect b="b" l="l" r="r" t="t"/>
            <a:pathLst>
              <a:path extrusionOk="0" h="387804" w="374340">
                <a:moveTo>
                  <a:pt x="0" y="0"/>
                </a:moveTo>
                <a:lnTo>
                  <a:pt x="374340" y="0"/>
                </a:lnTo>
                <a:lnTo>
                  <a:pt x="374340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403129" y="159242"/>
            <a:ext cx="598494" cy="13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Seguridad</a:t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9211590" y="0"/>
            <a:ext cx="1216603" cy="440686"/>
          </a:xfrm>
          <a:custGeom>
            <a:rect b="b" l="l" r="r" t="t"/>
            <a:pathLst>
              <a:path extrusionOk="0" h="587581" w="1622138">
                <a:moveTo>
                  <a:pt x="0" y="0"/>
                </a:moveTo>
                <a:lnTo>
                  <a:pt x="1622138" y="0"/>
                </a:lnTo>
                <a:lnTo>
                  <a:pt x="1622138" y="587581"/>
                </a:lnTo>
                <a:lnTo>
                  <a:pt x="0" y="587581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9351968" y="0"/>
            <a:ext cx="271396" cy="290853"/>
          </a:xfrm>
          <a:custGeom>
            <a:rect b="b" l="l" r="r" t="t"/>
            <a:pathLst>
              <a:path extrusionOk="0" h="387804" w="361862">
                <a:moveTo>
                  <a:pt x="0" y="0"/>
                </a:moveTo>
                <a:lnTo>
                  <a:pt x="361862" y="0"/>
                </a:lnTo>
                <a:lnTo>
                  <a:pt x="361862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9621492" y="159242"/>
            <a:ext cx="598494" cy="13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Respuesta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355522" y="145726"/>
            <a:ext cx="106874" cy="150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7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355522" y="145726"/>
            <a:ext cx="106874" cy="150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7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355522" y="145726"/>
            <a:ext cx="106874" cy="150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17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473071" y="3471325"/>
            <a:ext cx="48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75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LVL.1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473071" y="6314700"/>
            <a:ext cx="5427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75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LVL.3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473071" y="3857000"/>
            <a:ext cx="1173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Reversible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473072" y="4187850"/>
            <a:ext cx="546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Automatización con reversión temporizada para mitigar errores operativos.</a:t>
            </a:r>
            <a:endParaRPr sz="1200"/>
          </a:p>
        </p:txBody>
      </p:sp>
      <p:sp>
        <p:nvSpPr>
          <p:cNvPr id="324" name="Google Shape;324;p8"/>
          <p:cNvSpPr txBox="1"/>
          <p:nvPr/>
        </p:nvSpPr>
        <p:spPr>
          <a:xfrm>
            <a:off x="473072" y="5609550"/>
            <a:ext cx="666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Impacto en personas; requiere reversión manual y notificación fuera de banda obligatoria.</a:t>
            </a:r>
            <a:endParaRPr sz="1200"/>
          </a:p>
        </p:txBody>
      </p:sp>
      <p:sp>
        <p:nvSpPr>
          <p:cNvPr id="325" name="Google Shape;325;p8"/>
          <p:cNvSpPr txBox="1"/>
          <p:nvPr/>
        </p:nvSpPr>
        <p:spPr>
          <a:xfrm>
            <a:off x="729581" y="457679"/>
            <a:ext cx="1902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Soar &amp; IA Determinística</a:t>
            </a:r>
            <a:endParaRPr sz="900"/>
          </a:p>
        </p:txBody>
      </p:sp>
      <p:pic>
        <p:nvPicPr>
          <p:cNvPr id="326" name="Google Shape;326;p8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48638" y="7928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8"/>
          <p:cNvSpPr/>
          <p:nvPr/>
        </p:nvSpPr>
        <p:spPr>
          <a:xfrm>
            <a:off x="7525173" y="4125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9175675" y="208825"/>
            <a:ext cx="113247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Autonomía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"/>
          <p:cNvSpPr/>
          <p:nvPr/>
        </p:nvSpPr>
        <p:spPr>
          <a:xfrm>
            <a:off x="4699339" y="3226595"/>
            <a:ext cx="271396" cy="290853"/>
          </a:xfrm>
          <a:custGeom>
            <a:rect b="b" l="l" r="r" t="t"/>
            <a:pathLst>
              <a:path extrusionOk="0" h="387804" w="361862">
                <a:moveTo>
                  <a:pt x="0" y="0"/>
                </a:moveTo>
                <a:lnTo>
                  <a:pt x="361862" y="0"/>
                </a:lnTo>
                <a:lnTo>
                  <a:pt x="361862" y="387804"/>
                </a:lnTo>
                <a:lnTo>
                  <a:pt x="0" y="387804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-128600" y="0"/>
            <a:ext cx="10938237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76974" y="313049"/>
            <a:ext cx="518292" cy="635584"/>
          </a:xfrm>
          <a:custGeom>
            <a:rect b="b" l="l" r="r" t="t"/>
            <a:pathLst>
              <a:path extrusionOk="0" h="847445" w="691056">
                <a:moveTo>
                  <a:pt x="0" y="0"/>
                </a:moveTo>
                <a:lnTo>
                  <a:pt x="691056" y="0"/>
                </a:lnTo>
                <a:lnTo>
                  <a:pt x="691056" y="847445"/>
                </a:lnTo>
                <a:lnTo>
                  <a:pt x="0" y="84744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04669" y="464830"/>
            <a:ext cx="262902" cy="332021"/>
          </a:xfrm>
          <a:custGeom>
            <a:rect b="b" l="l" r="r" t="t"/>
            <a:pathLst>
              <a:path extrusionOk="0" h="442695" w="350536">
                <a:moveTo>
                  <a:pt x="0" y="0"/>
                </a:moveTo>
                <a:lnTo>
                  <a:pt x="350536" y="0"/>
                </a:lnTo>
                <a:lnTo>
                  <a:pt x="350536" y="442695"/>
                </a:lnTo>
                <a:lnTo>
                  <a:pt x="0" y="44269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931328" y="492664"/>
            <a:ext cx="1261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2">
                <a:solidFill>
                  <a:srgbClr val="FFFFFF"/>
                </a:solidFill>
              </a:rPr>
              <a:t>K</a:t>
            </a:r>
            <a:r>
              <a:rPr b="1" lang="en-US" sz="2042">
                <a:solidFill>
                  <a:srgbClr val="FFFFFF"/>
                </a:solidFill>
              </a:rPr>
              <a:t>ronos </a:t>
            </a:r>
            <a:r>
              <a:rPr b="1" lang="en-US" sz="2042">
                <a:solidFill>
                  <a:srgbClr val="00FFFF"/>
                </a:solidFill>
              </a:rPr>
              <a:t>AI</a:t>
            </a:r>
            <a:endParaRPr sz="1600"/>
          </a:p>
        </p:txBody>
      </p:sp>
      <p:sp>
        <p:nvSpPr>
          <p:cNvPr id="340" name="Google Shape;340;p9"/>
          <p:cNvSpPr/>
          <p:nvPr/>
        </p:nvSpPr>
        <p:spPr>
          <a:xfrm>
            <a:off x="8016146" y="313049"/>
            <a:ext cx="1787731" cy="483803"/>
          </a:xfrm>
          <a:custGeom>
            <a:rect b="b" l="l" r="r" t="t"/>
            <a:pathLst>
              <a:path extrusionOk="0" h="645070" w="2383642">
                <a:moveTo>
                  <a:pt x="0" y="0"/>
                </a:moveTo>
                <a:lnTo>
                  <a:pt x="2383642" y="0"/>
                </a:lnTo>
                <a:lnTo>
                  <a:pt x="2383642" y="645070"/>
                </a:lnTo>
                <a:lnTo>
                  <a:pt x="0" y="64507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8143841" y="464830"/>
            <a:ext cx="262902" cy="332021"/>
          </a:xfrm>
          <a:custGeom>
            <a:rect b="b" l="l" r="r" t="t"/>
            <a:pathLst>
              <a:path extrusionOk="0" h="442695" w="350536">
                <a:moveTo>
                  <a:pt x="0" y="0"/>
                </a:moveTo>
                <a:lnTo>
                  <a:pt x="350536" y="0"/>
                </a:lnTo>
                <a:lnTo>
                  <a:pt x="350536" y="442695"/>
                </a:lnTo>
                <a:lnTo>
                  <a:pt x="0" y="442695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9796366" y="313049"/>
            <a:ext cx="518292" cy="483803"/>
          </a:xfrm>
          <a:custGeom>
            <a:rect b="b" l="l" r="r" t="t"/>
            <a:pathLst>
              <a:path extrusionOk="0" h="645070" w="691056">
                <a:moveTo>
                  <a:pt x="0" y="0"/>
                </a:moveTo>
                <a:lnTo>
                  <a:pt x="691056" y="0"/>
                </a:lnTo>
                <a:lnTo>
                  <a:pt x="691056" y="645070"/>
                </a:lnTo>
                <a:lnTo>
                  <a:pt x="0" y="64507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9924061" y="464830"/>
            <a:ext cx="262902" cy="332021"/>
          </a:xfrm>
          <a:custGeom>
            <a:rect b="b" l="l" r="r" t="t"/>
            <a:pathLst>
              <a:path extrusionOk="0" h="442695" w="350536">
                <a:moveTo>
                  <a:pt x="0" y="0"/>
                </a:moveTo>
                <a:lnTo>
                  <a:pt x="350536" y="0"/>
                </a:lnTo>
                <a:lnTo>
                  <a:pt x="350536" y="442695"/>
                </a:lnTo>
                <a:lnTo>
                  <a:pt x="0" y="442695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76974" y="2039560"/>
            <a:ext cx="3951037" cy="2371582"/>
          </a:xfrm>
          <a:custGeom>
            <a:rect b="b" l="l" r="r" t="t"/>
            <a:pathLst>
              <a:path extrusionOk="0" h="3162109" w="5268049">
                <a:moveTo>
                  <a:pt x="0" y="0"/>
                </a:moveTo>
                <a:lnTo>
                  <a:pt x="5268049" y="0"/>
                </a:lnTo>
                <a:lnTo>
                  <a:pt x="5268049" y="3162109"/>
                </a:lnTo>
                <a:lnTo>
                  <a:pt x="0" y="3162109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376974" y="4401655"/>
            <a:ext cx="3951037" cy="2371582"/>
          </a:xfrm>
          <a:custGeom>
            <a:rect b="b" l="l" r="r" t="t"/>
            <a:pathLst>
              <a:path extrusionOk="0" h="3162109" w="5268049">
                <a:moveTo>
                  <a:pt x="0" y="0"/>
                </a:moveTo>
                <a:lnTo>
                  <a:pt x="5268049" y="0"/>
                </a:lnTo>
                <a:lnTo>
                  <a:pt x="5268049" y="3162109"/>
                </a:lnTo>
                <a:lnTo>
                  <a:pt x="0" y="3162109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4715175" y="1773207"/>
            <a:ext cx="360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</a:rPr>
              <a:t>Nodos y Topología:</a:t>
            </a:r>
            <a:endParaRPr sz="2400"/>
          </a:p>
        </p:txBody>
      </p:sp>
      <p:sp>
        <p:nvSpPr>
          <p:cNvPr id="347" name="Google Shape;347;p9"/>
          <p:cNvSpPr txBox="1"/>
          <p:nvPr/>
        </p:nvSpPr>
        <p:spPr>
          <a:xfrm>
            <a:off x="4715175" y="2463402"/>
            <a:ext cx="234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AFF"/>
                </a:solidFill>
              </a:rPr>
              <a:t>La Malla Defensiva</a:t>
            </a:r>
            <a:endParaRPr sz="1800"/>
          </a:p>
        </p:txBody>
      </p:sp>
      <p:sp>
        <p:nvSpPr>
          <p:cNvPr id="348" name="Google Shape;348;p9"/>
          <p:cNvSpPr/>
          <p:nvPr/>
        </p:nvSpPr>
        <p:spPr>
          <a:xfrm>
            <a:off x="4575889" y="2988193"/>
            <a:ext cx="5738768" cy="4107579"/>
          </a:xfrm>
          <a:custGeom>
            <a:rect b="b" l="l" r="r" t="t"/>
            <a:pathLst>
              <a:path extrusionOk="0" h="5476772" w="7651691">
                <a:moveTo>
                  <a:pt x="0" y="0"/>
                </a:moveTo>
                <a:lnTo>
                  <a:pt x="7651691" y="0"/>
                </a:lnTo>
                <a:lnTo>
                  <a:pt x="7651691" y="5476772"/>
                </a:lnTo>
                <a:lnTo>
                  <a:pt x="0" y="5476772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575889" y="2988193"/>
            <a:ext cx="518292" cy="635584"/>
          </a:xfrm>
          <a:custGeom>
            <a:rect b="b" l="l" r="r" t="t"/>
            <a:pathLst>
              <a:path extrusionOk="0" h="847445" w="691056">
                <a:moveTo>
                  <a:pt x="0" y="0"/>
                </a:moveTo>
                <a:lnTo>
                  <a:pt x="691056" y="0"/>
                </a:lnTo>
                <a:lnTo>
                  <a:pt x="691056" y="847445"/>
                </a:lnTo>
                <a:lnTo>
                  <a:pt x="0" y="847445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4993084" y="3724481"/>
            <a:ext cx="49488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AFF"/>
                </a:solidFill>
              </a:rPr>
              <a:t>ZEUS:</a:t>
            </a:r>
            <a:r>
              <a:rPr lang="en-US" sz="1200">
                <a:solidFill>
                  <a:srgbClr val="FFFFFF"/>
                </a:solidFill>
              </a:rPr>
              <a:t>  El núcleo estratégico e intocable que </a:t>
            </a:r>
            <a:r>
              <a:rPr lang="en-US" sz="1200">
                <a:solidFill>
                  <a:srgbClr val="FFFFFF"/>
                </a:solidFill>
              </a:rPr>
              <a:t>aquesta</a:t>
            </a:r>
            <a:r>
              <a:rPr lang="en-US" sz="1200">
                <a:solidFill>
                  <a:srgbClr val="FFFFFF"/>
                </a:solidFill>
              </a:rPr>
              <a:t> la defensa mediante Wazuh, nón, Ollama y PostgreSQL.</a:t>
            </a:r>
            <a:endParaRPr sz="1200"/>
          </a:p>
        </p:txBody>
      </p:sp>
      <p:sp>
        <p:nvSpPr>
          <p:cNvPr id="351" name="Google Shape;351;p9"/>
          <p:cNvSpPr/>
          <p:nvPr/>
        </p:nvSpPr>
        <p:spPr>
          <a:xfrm>
            <a:off x="4958325" y="4211232"/>
            <a:ext cx="3575463" cy="170754"/>
          </a:xfrm>
          <a:custGeom>
            <a:rect b="b" l="l" r="r" t="t"/>
            <a:pathLst>
              <a:path extrusionOk="0" h="227672" w="4767284">
                <a:moveTo>
                  <a:pt x="0" y="0"/>
                </a:moveTo>
                <a:lnTo>
                  <a:pt x="4767284" y="0"/>
                </a:lnTo>
                <a:lnTo>
                  <a:pt x="4767284" y="227672"/>
                </a:lnTo>
                <a:lnTo>
                  <a:pt x="0" y="227672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4993084" y="4471591"/>
            <a:ext cx="4948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AFF"/>
                </a:solidFill>
              </a:rPr>
              <a:t>HERA y ARGOS:</a:t>
            </a:r>
            <a:r>
              <a:rPr lang="en-US" sz="1200">
                <a:solidFill>
                  <a:srgbClr val="FFFFFF"/>
                </a:solidFill>
              </a:rPr>
              <a:t>  Control de identidad con Samba AD y vigilancia del tráfico mediante un Gateway Proxy con inspección DLP Presidio para proteger datos sensibles.</a:t>
            </a:r>
            <a:endParaRPr sz="1200"/>
          </a:p>
        </p:txBody>
      </p:sp>
      <p:sp>
        <p:nvSpPr>
          <p:cNvPr id="353" name="Google Shape;353;p9"/>
          <p:cNvSpPr/>
          <p:nvPr/>
        </p:nvSpPr>
        <p:spPr>
          <a:xfrm>
            <a:off x="4993075" y="5247102"/>
            <a:ext cx="1915427" cy="161267"/>
          </a:xfrm>
          <a:custGeom>
            <a:rect b="b" l="l" r="r" t="t"/>
            <a:pathLst>
              <a:path extrusionOk="0" h="215023" w="2553902">
                <a:moveTo>
                  <a:pt x="0" y="0"/>
                </a:moveTo>
                <a:lnTo>
                  <a:pt x="2553902" y="0"/>
                </a:lnTo>
                <a:lnTo>
                  <a:pt x="2553902" y="215023"/>
                </a:lnTo>
                <a:lnTo>
                  <a:pt x="0" y="215023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4993084" y="5446909"/>
            <a:ext cx="4948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AFF"/>
                </a:solidFill>
              </a:rPr>
              <a:t>HESTIA, APOLO y ARES:</a:t>
            </a:r>
            <a:r>
              <a:rPr lang="en-US" sz="1200">
                <a:solidFill>
                  <a:srgbClr val="FFFFFF"/>
                </a:solidFill>
              </a:rPr>
              <a:t>  </a:t>
            </a:r>
            <a:r>
              <a:rPr lang="en-US" sz="1200">
                <a:solidFill>
                  <a:srgbClr val="FFFFFF"/>
                </a:solidFill>
              </a:rPr>
              <a:t>Despliegue</a:t>
            </a:r>
            <a:r>
              <a:rPr lang="en-US" sz="1200">
                <a:solidFill>
                  <a:srgbClr val="FFFFFF"/>
                </a:solidFill>
              </a:rPr>
              <a:t> de estaciones de trabajo operativas frente a un nodo atacante dedicado para simulaciones de respuesta en tiempo real.</a:t>
            </a:r>
            <a:endParaRPr sz="1200"/>
          </a:p>
        </p:txBody>
      </p:sp>
      <p:sp>
        <p:nvSpPr>
          <p:cNvPr id="355" name="Google Shape;355;p9"/>
          <p:cNvSpPr/>
          <p:nvPr/>
        </p:nvSpPr>
        <p:spPr>
          <a:xfrm>
            <a:off x="4958325" y="6498602"/>
            <a:ext cx="262902" cy="322535"/>
          </a:xfrm>
          <a:custGeom>
            <a:rect b="b" l="l" r="r" t="t"/>
            <a:pathLst>
              <a:path extrusionOk="0" h="430047" w="350536">
                <a:moveTo>
                  <a:pt x="0" y="0"/>
                </a:moveTo>
                <a:lnTo>
                  <a:pt x="350536" y="0"/>
                </a:lnTo>
                <a:lnTo>
                  <a:pt x="350536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8533806" y="6498589"/>
            <a:ext cx="262902" cy="322535"/>
          </a:xfrm>
          <a:custGeom>
            <a:rect b="b" l="l" r="r" t="t"/>
            <a:pathLst>
              <a:path extrusionOk="0" h="430047" w="350536">
                <a:moveTo>
                  <a:pt x="0" y="0"/>
                </a:moveTo>
                <a:lnTo>
                  <a:pt x="350536" y="0"/>
                </a:lnTo>
                <a:lnTo>
                  <a:pt x="350536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963395" y="920124"/>
            <a:ext cx="2340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Soar y ejecución </a:t>
            </a:r>
            <a:r>
              <a:rPr lang="en-US" sz="900">
                <a:solidFill>
                  <a:srgbClr val="FFFFFF"/>
                </a:solidFill>
              </a:rPr>
              <a:t>determinística</a:t>
            </a:r>
            <a:endParaRPr sz="900"/>
          </a:p>
        </p:txBody>
      </p:sp>
      <p:sp>
        <p:nvSpPr>
          <p:cNvPr id="358" name="Google Shape;358;p9"/>
          <p:cNvSpPr txBox="1"/>
          <p:nvPr/>
        </p:nvSpPr>
        <p:spPr>
          <a:xfrm>
            <a:off x="5196177" y="6567450"/>
            <a:ext cx="13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Infraestructura</a:t>
            </a:r>
            <a:endParaRPr sz="1200"/>
          </a:p>
        </p:txBody>
      </p:sp>
      <p:sp>
        <p:nvSpPr>
          <p:cNvPr id="359" name="Google Shape;359;p9"/>
          <p:cNvSpPr txBox="1"/>
          <p:nvPr/>
        </p:nvSpPr>
        <p:spPr>
          <a:xfrm>
            <a:off x="8847694" y="6567450"/>
            <a:ext cx="100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Ciberdefensa</a:t>
            </a:r>
            <a:endParaRPr sz="1200"/>
          </a:p>
        </p:txBody>
      </p:sp>
      <p:sp>
        <p:nvSpPr>
          <p:cNvPr id="360" name="Google Shape;360;p9"/>
          <p:cNvSpPr txBox="1"/>
          <p:nvPr/>
        </p:nvSpPr>
        <p:spPr>
          <a:xfrm>
            <a:off x="8402821" y="535962"/>
            <a:ext cx="1207838" cy="106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8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Arquitectura de Red</a:t>
            </a:r>
            <a:endParaRPr/>
          </a:p>
        </p:txBody>
      </p:sp>
      <p:pic>
        <p:nvPicPr>
          <p:cNvPr id="361" name="Google Shape;361;p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14150" y="378413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9"/>
          <p:cNvSpPr/>
          <p:nvPr/>
        </p:nvSpPr>
        <p:spPr>
          <a:xfrm>
            <a:off x="7377948" y="271350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9175675" y="208825"/>
            <a:ext cx="113247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Sistemas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4644069" y="3144715"/>
            <a:ext cx="262902" cy="322535"/>
          </a:xfrm>
          <a:custGeom>
            <a:rect b="b" l="l" r="r" t="t"/>
            <a:pathLst>
              <a:path extrusionOk="0" h="430047" w="350536">
                <a:moveTo>
                  <a:pt x="0" y="0"/>
                </a:moveTo>
                <a:lnTo>
                  <a:pt x="350536" y="0"/>
                </a:lnTo>
                <a:lnTo>
                  <a:pt x="350536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9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04675" y="2021950"/>
            <a:ext cx="3823325" cy="23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87900" y="4565500"/>
            <a:ext cx="3823326" cy="21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0" y="-4375"/>
            <a:ext cx="10795720" cy="7564974"/>
          </a:xfrm>
          <a:custGeom>
            <a:rect b="b" l="l" r="r" t="t"/>
            <a:pathLst>
              <a:path extrusionOk="0" h="10086632" w="14251775">
                <a:moveTo>
                  <a:pt x="0" y="0"/>
                </a:moveTo>
                <a:lnTo>
                  <a:pt x="14251775" y="0"/>
                </a:lnTo>
                <a:lnTo>
                  <a:pt x="14251775" y="10086632"/>
                </a:lnTo>
                <a:lnTo>
                  <a:pt x="0" y="1008663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74521" y="303072"/>
            <a:ext cx="644176" cy="801216"/>
          </a:xfrm>
          <a:custGeom>
            <a:rect b="b" l="l" r="r" t="t"/>
            <a:pathLst>
              <a:path extrusionOk="0" h="1068289" w="858902">
                <a:moveTo>
                  <a:pt x="0" y="0"/>
                </a:moveTo>
                <a:lnTo>
                  <a:pt x="858902" y="0"/>
                </a:lnTo>
                <a:lnTo>
                  <a:pt x="858902" y="1068289"/>
                </a:lnTo>
                <a:lnTo>
                  <a:pt x="0" y="106828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01858" y="461452"/>
            <a:ext cx="389502" cy="484456"/>
          </a:xfrm>
          <a:custGeom>
            <a:rect b="b" l="l" r="r" t="t"/>
            <a:pathLst>
              <a:path extrusionOk="0" h="645942" w="519336">
                <a:moveTo>
                  <a:pt x="0" y="0"/>
                </a:moveTo>
                <a:lnTo>
                  <a:pt x="519336" y="0"/>
                </a:lnTo>
                <a:lnTo>
                  <a:pt x="519336" y="645942"/>
                </a:lnTo>
                <a:lnTo>
                  <a:pt x="0" y="64594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 txBox="1"/>
          <p:nvPr/>
        </p:nvSpPr>
        <p:spPr>
          <a:xfrm>
            <a:off x="1058194" y="495640"/>
            <a:ext cx="122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</a:t>
            </a:r>
            <a:r>
              <a:rPr lang="en-US" sz="2000">
                <a:solidFill>
                  <a:srgbClr val="FFFFFF"/>
                </a:solidFill>
              </a:rPr>
              <a:t>ronos </a:t>
            </a:r>
            <a:r>
              <a:rPr lang="en-US" sz="2000">
                <a:solidFill>
                  <a:srgbClr val="00FFFF"/>
                </a:solidFill>
              </a:rPr>
              <a:t>AI</a:t>
            </a:r>
            <a:endParaRPr sz="2000"/>
          </a:p>
        </p:txBody>
      </p:sp>
      <p:sp>
        <p:nvSpPr>
          <p:cNvPr id="377" name="Google Shape;377;p10"/>
          <p:cNvSpPr/>
          <p:nvPr/>
        </p:nvSpPr>
        <p:spPr>
          <a:xfrm>
            <a:off x="374521" y="1886872"/>
            <a:ext cx="644176" cy="158380"/>
          </a:xfrm>
          <a:custGeom>
            <a:rect b="b" l="l" r="r" t="t"/>
            <a:pathLst>
              <a:path extrusionOk="0" h="211173" w="858902">
                <a:moveTo>
                  <a:pt x="0" y="0"/>
                </a:moveTo>
                <a:lnTo>
                  <a:pt x="858902" y="0"/>
                </a:lnTo>
                <a:lnTo>
                  <a:pt x="858902" y="211173"/>
                </a:lnTo>
                <a:lnTo>
                  <a:pt x="0" y="21117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502375" y="2449558"/>
            <a:ext cx="2276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4">
                <a:solidFill>
                  <a:srgbClr val="FFFFFF"/>
                </a:solidFill>
              </a:rPr>
              <a:t>Interfaz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2779102" y="2489225"/>
            <a:ext cx="2211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764">
                <a:solidFill>
                  <a:srgbClr val="00FFFF"/>
                </a:solidFill>
              </a:rPr>
              <a:t>TEMIS</a:t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374521" y="3500732"/>
            <a:ext cx="262165" cy="1117976"/>
          </a:xfrm>
          <a:custGeom>
            <a:rect b="b" l="l" r="r" t="t"/>
            <a:pathLst>
              <a:path extrusionOk="0" h="1490635" w="349553">
                <a:moveTo>
                  <a:pt x="0" y="0"/>
                </a:moveTo>
                <a:lnTo>
                  <a:pt x="349553" y="0"/>
                </a:lnTo>
                <a:lnTo>
                  <a:pt x="349553" y="1490635"/>
                </a:lnTo>
                <a:lnTo>
                  <a:pt x="0" y="1490635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 txBox="1"/>
          <p:nvPr/>
        </p:nvSpPr>
        <p:spPr>
          <a:xfrm>
            <a:off x="833737" y="3673242"/>
            <a:ext cx="43503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Panel centralizado para el analista del SOC que permite la supervisión de tickets y deliberación de incidentes.</a:t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374521" y="5818422"/>
            <a:ext cx="1917549" cy="642836"/>
          </a:xfrm>
          <a:custGeom>
            <a:rect b="b" l="l" r="r" t="t"/>
            <a:pathLst>
              <a:path extrusionOk="0" h="857115" w="2556731">
                <a:moveTo>
                  <a:pt x="0" y="0"/>
                </a:moveTo>
                <a:lnTo>
                  <a:pt x="2556731" y="0"/>
                </a:lnTo>
                <a:lnTo>
                  <a:pt x="2556731" y="857115"/>
                </a:lnTo>
                <a:lnTo>
                  <a:pt x="0" y="857115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2411916" y="5818422"/>
            <a:ext cx="1662874" cy="642836"/>
          </a:xfrm>
          <a:custGeom>
            <a:rect b="b" l="l" r="r" t="t"/>
            <a:pathLst>
              <a:path extrusionOk="0" h="857115" w="2217165">
                <a:moveTo>
                  <a:pt x="0" y="0"/>
                </a:moveTo>
                <a:lnTo>
                  <a:pt x="2217165" y="0"/>
                </a:lnTo>
                <a:lnTo>
                  <a:pt x="2217165" y="857115"/>
                </a:lnTo>
                <a:lnTo>
                  <a:pt x="0" y="857115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666590" y="5976802"/>
            <a:ext cx="262165" cy="326076"/>
          </a:xfrm>
          <a:custGeom>
            <a:rect b="b" l="l" r="r" t="t"/>
            <a:pathLst>
              <a:path extrusionOk="0" h="434769" w="349553">
                <a:moveTo>
                  <a:pt x="0" y="0"/>
                </a:moveTo>
                <a:lnTo>
                  <a:pt x="349553" y="0"/>
                </a:lnTo>
                <a:lnTo>
                  <a:pt x="349553" y="434769"/>
                </a:lnTo>
                <a:lnTo>
                  <a:pt x="0" y="434769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868716" y="303072"/>
            <a:ext cx="1408199" cy="642836"/>
          </a:xfrm>
          <a:custGeom>
            <a:rect b="b" l="l" r="r" t="t"/>
            <a:pathLst>
              <a:path extrusionOk="0" h="857115" w="1877599">
                <a:moveTo>
                  <a:pt x="0" y="0"/>
                </a:moveTo>
                <a:lnTo>
                  <a:pt x="1877599" y="0"/>
                </a:lnTo>
                <a:lnTo>
                  <a:pt x="1877599" y="857115"/>
                </a:lnTo>
                <a:lnTo>
                  <a:pt x="0" y="857115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7123391" y="461452"/>
            <a:ext cx="262165" cy="326076"/>
          </a:xfrm>
          <a:custGeom>
            <a:rect b="b" l="l" r="r" t="t"/>
            <a:pathLst>
              <a:path extrusionOk="0" h="434769" w="349553">
                <a:moveTo>
                  <a:pt x="0" y="0"/>
                </a:moveTo>
                <a:lnTo>
                  <a:pt x="349553" y="0"/>
                </a:lnTo>
                <a:lnTo>
                  <a:pt x="349553" y="434769"/>
                </a:lnTo>
                <a:lnTo>
                  <a:pt x="0" y="434769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 txBox="1"/>
          <p:nvPr/>
        </p:nvSpPr>
        <p:spPr>
          <a:xfrm>
            <a:off x="7311161" y="584057"/>
            <a:ext cx="7269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Temis v0.1</a:t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8269425" y="303072"/>
            <a:ext cx="1408199" cy="642836"/>
          </a:xfrm>
          <a:custGeom>
            <a:rect b="b" l="l" r="r" t="t"/>
            <a:pathLst>
              <a:path extrusionOk="0" h="857115" w="1877599">
                <a:moveTo>
                  <a:pt x="0" y="0"/>
                </a:moveTo>
                <a:lnTo>
                  <a:pt x="1877599" y="0"/>
                </a:lnTo>
                <a:lnTo>
                  <a:pt x="1877599" y="857115"/>
                </a:lnTo>
                <a:lnTo>
                  <a:pt x="0" y="857115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396762" y="461452"/>
            <a:ext cx="262165" cy="326076"/>
          </a:xfrm>
          <a:custGeom>
            <a:rect b="b" l="l" r="r" t="t"/>
            <a:pathLst>
              <a:path extrusionOk="0" h="434769" w="349553">
                <a:moveTo>
                  <a:pt x="0" y="0"/>
                </a:moveTo>
                <a:lnTo>
                  <a:pt x="349553" y="0"/>
                </a:lnTo>
                <a:lnTo>
                  <a:pt x="349553" y="434769"/>
                </a:lnTo>
                <a:lnTo>
                  <a:pt x="0" y="434769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8700709" y="584057"/>
            <a:ext cx="780285" cy="13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Soc Analyst</a:t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9797471" y="303072"/>
            <a:ext cx="516839" cy="642836"/>
          </a:xfrm>
          <a:custGeom>
            <a:rect b="b" l="l" r="r" t="t"/>
            <a:pathLst>
              <a:path extrusionOk="0" h="857115" w="689119">
                <a:moveTo>
                  <a:pt x="0" y="0"/>
                </a:moveTo>
                <a:lnTo>
                  <a:pt x="689119" y="0"/>
                </a:lnTo>
                <a:lnTo>
                  <a:pt x="689119" y="857115"/>
                </a:lnTo>
                <a:lnTo>
                  <a:pt x="0" y="857115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868716" y="3461355"/>
            <a:ext cx="3820115" cy="4099247"/>
          </a:xfrm>
          <a:custGeom>
            <a:rect b="b" l="l" r="r" t="t"/>
            <a:pathLst>
              <a:path extrusionOk="0" h="5465663" w="5093486">
                <a:moveTo>
                  <a:pt x="0" y="0"/>
                </a:moveTo>
                <a:lnTo>
                  <a:pt x="5093486" y="0"/>
                </a:lnTo>
                <a:lnTo>
                  <a:pt x="5093486" y="5465663"/>
                </a:lnTo>
                <a:lnTo>
                  <a:pt x="0" y="5465663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850019" y="1886872"/>
            <a:ext cx="4464291" cy="4416007"/>
          </a:xfrm>
          <a:custGeom>
            <a:rect b="b" l="l" r="r" t="t"/>
            <a:pathLst>
              <a:path extrusionOk="0" h="5888009" w="5952388">
                <a:moveTo>
                  <a:pt x="0" y="0"/>
                </a:moveTo>
                <a:lnTo>
                  <a:pt x="5952388" y="0"/>
                </a:lnTo>
                <a:lnTo>
                  <a:pt x="5952388" y="5888009"/>
                </a:lnTo>
                <a:lnTo>
                  <a:pt x="0" y="5888009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232031" y="2352695"/>
            <a:ext cx="389502" cy="484456"/>
          </a:xfrm>
          <a:custGeom>
            <a:rect b="b" l="l" r="r" t="t"/>
            <a:pathLst>
              <a:path extrusionOk="0" h="645942" w="519336">
                <a:moveTo>
                  <a:pt x="0" y="0"/>
                </a:moveTo>
                <a:lnTo>
                  <a:pt x="519336" y="0"/>
                </a:lnTo>
                <a:lnTo>
                  <a:pt x="519336" y="645942"/>
                </a:lnTo>
                <a:lnTo>
                  <a:pt x="0" y="645942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8080756" y="2521116"/>
            <a:ext cx="175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Módulo de seguridad</a:t>
            </a:r>
            <a:endParaRPr sz="1200"/>
          </a:p>
        </p:txBody>
      </p:sp>
      <p:sp>
        <p:nvSpPr>
          <p:cNvPr id="396" name="Google Shape;396;p10"/>
          <p:cNvSpPr txBox="1"/>
          <p:nvPr/>
        </p:nvSpPr>
        <p:spPr>
          <a:xfrm>
            <a:off x="6242277" y="3437314"/>
            <a:ext cx="3463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FFFFFF"/>
                </a:solidFill>
              </a:rPr>
              <a:t>"Facilita la aprobación de contenciones críticas sin ejecución directa de código, garantizando control humano."</a:t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6104693" y="4243939"/>
            <a:ext cx="3827605" cy="167696"/>
          </a:xfrm>
          <a:custGeom>
            <a:rect b="b" l="l" r="r" t="t"/>
            <a:pathLst>
              <a:path extrusionOk="0" h="223595" w="5103474">
                <a:moveTo>
                  <a:pt x="0" y="0"/>
                </a:moveTo>
                <a:lnTo>
                  <a:pt x="5103474" y="0"/>
                </a:lnTo>
                <a:lnTo>
                  <a:pt x="5103474" y="223595"/>
                </a:lnTo>
                <a:lnTo>
                  <a:pt x="0" y="223595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6242277" y="4661311"/>
            <a:ext cx="36342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Esta interfaz asegura una respuesta determinista y auditable para todas las operaciones críticas del sistema.</a:t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8142088" y="5669359"/>
            <a:ext cx="134828" cy="158380"/>
          </a:xfrm>
          <a:custGeom>
            <a:rect b="b" l="l" r="r" t="t"/>
            <a:pathLst>
              <a:path extrusionOk="0" h="211173" w="179770">
                <a:moveTo>
                  <a:pt x="0" y="0"/>
                </a:moveTo>
                <a:lnTo>
                  <a:pt x="179770" y="0"/>
                </a:lnTo>
                <a:lnTo>
                  <a:pt x="179770" y="211173"/>
                </a:lnTo>
                <a:lnTo>
                  <a:pt x="0" y="211173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374521" y="6610322"/>
            <a:ext cx="9939789" cy="167696"/>
          </a:xfrm>
          <a:custGeom>
            <a:rect b="b" l="l" r="r" t="t"/>
            <a:pathLst>
              <a:path extrusionOk="0" h="223595" w="13253052">
                <a:moveTo>
                  <a:pt x="0" y="0"/>
                </a:moveTo>
                <a:lnTo>
                  <a:pt x="13253052" y="0"/>
                </a:lnTo>
                <a:lnTo>
                  <a:pt x="13253052" y="223595"/>
                </a:lnTo>
                <a:lnTo>
                  <a:pt x="0" y="223595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10004746" y="584057"/>
            <a:ext cx="128266" cy="131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34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6242274" y="3118325"/>
            <a:ext cx="191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FFFF"/>
                </a:solidFill>
              </a:rPr>
              <a:t>Protocolo de acción</a:t>
            </a:r>
            <a:endParaRPr sz="1200"/>
          </a:p>
        </p:txBody>
      </p:sp>
      <p:sp>
        <p:nvSpPr>
          <p:cNvPr id="403" name="Google Shape;403;p10"/>
          <p:cNvSpPr txBox="1"/>
          <p:nvPr/>
        </p:nvSpPr>
        <p:spPr>
          <a:xfrm>
            <a:off x="833729" y="6030838"/>
            <a:ext cx="107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</a:rPr>
              <a:t>Acceso global</a:t>
            </a:r>
            <a:endParaRPr sz="1200"/>
          </a:p>
        </p:txBody>
      </p:sp>
      <p:sp>
        <p:nvSpPr>
          <p:cNvPr id="404" name="Google Shape;404;p10"/>
          <p:cNvSpPr txBox="1"/>
          <p:nvPr/>
        </p:nvSpPr>
        <p:spPr>
          <a:xfrm>
            <a:off x="2928751" y="6047362"/>
            <a:ext cx="8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</a:rPr>
              <a:t>Auditoría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1058194" y="1043693"/>
            <a:ext cx="312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Soar &amp; Ejecución Determinística</a:t>
            </a:r>
            <a:endParaRPr sz="1200"/>
          </a:p>
        </p:txBody>
      </p:sp>
      <p:pic>
        <p:nvPicPr>
          <p:cNvPr id="406" name="Google Shape;406;p1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1838" y="303075"/>
            <a:ext cx="2829325" cy="13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0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24975" y="49563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0"/>
          <p:cNvSpPr/>
          <p:nvPr/>
        </p:nvSpPr>
        <p:spPr>
          <a:xfrm>
            <a:off x="6955625" y="282725"/>
            <a:ext cx="3349167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9175675" y="208825"/>
            <a:ext cx="132690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9432322" y="420900"/>
            <a:ext cx="9879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Interfaz WEB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/>
          <p:cNvSpPr/>
          <p:nvPr/>
        </p:nvSpPr>
        <p:spPr>
          <a:xfrm>
            <a:off x="0" y="0"/>
            <a:ext cx="10795720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375838" y="0"/>
            <a:ext cx="518656" cy="634519"/>
          </a:xfrm>
          <a:custGeom>
            <a:rect b="b" l="l" r="r" t="t"/>
            <a:pathLst>
              <a:path extrusionOk="0" h="846025" w="691542">
                <a:moveTo>
                  <a:pt x="0" y="0"/>
                </a:moveTo>
                <a:lnTo>
                  <a:pt x="691542" y="0"/>
                </a:lnTo>
                <a:lnTo>
                  <a:pt x="691542" y="846025"/>
                </a:lnTo>
                <a:lnTo>
                  <a:pt x="0" y="84602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503623" y="151927"/>
            <a:ext cx="263087" cy="321728"/>
          </a:xfrm>
          <a:custGeom>
            <a:rect b="b" l="l" r="r" t="t"/>
            <a:pathLst>
              <a:path extrusionOk="0" h="428970" w="350782">
                <a:moveTo>
                  <a:pt x="0" y="0"/>
                </a:moveTo>
                <a:lnTo>
                  <a:pt x="350782" y="0"/>
                </a:lnTo>
                <a:lnTo>
                  <a:pt x="350782" y="428970"/>
                </a:lnTo>
                <a:lnTo>
                  <a:pt x="0" y="42897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 txBox="1"/>
          <p:nvPr/>
        </p:nvSpPr>
        <p:spPr>
          <a:xfrm>
            <a:off x="929928" y="101408"/>
            <a:ext cx="136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</a:t>
            </a:r>
            <a:r>
              <a:rPr lang="en-US" sz="2000">
                <a:solidFill>
                  <a:srgbClr val="FFFFFF"/>
                </a:solidFill>
              </a:rPr>
              <a:t> </a:t>
            </a:r>
            <a:r>
              <a:rPr lang="en-US" sz="2000">
                <a:solidFill>
                  <a:srgbClr val="17F9F1"/>
                </a:solidFill>
              </a:rPr>
              <a:t>AI</a:t>
            </a:r>
            <a:endParaRPr sz="2000">
              <a:solidFill>
                <a:srgbClr val="17F9F1"/>
              </a:solidFill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7662774" y="0"/>
            <a:ext cx="2137415" cy="947548"/>
          </a:xfrm>
          <a:custGeom>
            <a:rect b="b" l="l" r="r" t="t"/>
            <a:pathLst>
              <a:path extrusionOk="0" h="846025" w="2214938">
                <a:moveTo>
                  <a:pt x="0" y="0"/>
                </a:moveTo>
                <a:lnTo>
                  <a:pt x="2214938" y="0"/>
                </a:lnTo>
                <a:lnTo>
                  <a:pt x="2214938" y="846025"/>
                </a:lnTo>
                <a:lnTo>
                  <a:pt x="0" y="84602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7821155" y="241915"/>
            <a:ext cx="455140" cy="442912"/>
          </a:xfrm>
          <a:custGeom>
            <a:rect b="b" l="l" r="r" t="t"/>
            <a:pathLst>
              <a:path extrusionOk="0" h="428970" w="350782">
                <a:moveTo>
                  <a:pt x="0" y="0"/>
                </a:moveTo>
                <a:lnTo>
                  <a:pt x="350782" y="0"/>
                </a:lnTo>
                <a:lnTo>
                  <a:pt x="350782" y="428970"/>
                </a:lnTo>
                <a:lnTo>
                  <a:pt x="0" y="42897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9922122" y="0"/>
            <a:ext cx="390871" cy="634519"/>
          </a:xfrm>
          <a:custGeom>
            <a:rect b="b" l="l" r="r" t="t"/>
            <a:pathLst>
              <a:path extrusionOk="0" h="846025" w="521162">
                <a:moveTo>
                  <a:pt x="0" y="0"/>
                </a:moveTo>
                <a:lnTo>
                  <a:pt x="521162" y="0"/>
                </a:lnTo>
                <a:lnTo>
                  <a:pt x="521162" y="846025"/>
                </a:lnTo>
                <a:lnTo>
                  <a:pt x="0" y="846025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9922122" y="151927"/>
            <a:ext cx="263087" cy="321728"/>
          </a:xfrm>
          <a:custGeom>
            <a:rect b="b" l="l" r="r" t="t"/>
            <a:pathLst>
              <a:path extrusionOk="0" h="428970" w="350782">
                <a:moveTo>
                  <a:pt x="0" y="0"/>
                </a:moveTo>
                <a:lnTo>
                  <a:pt x="350782" y="0"/>
                </a:lnTo>
                <a:lnTo>
                  <a:pt x="350782" y="428970"/>
                </a:lnTo>
                <a:lnTo>
                  <a:pt x="0" y="42897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375838" y="2198473"/>
            <a:ext cx="3570460" cy="2216347"/>
          </a:xfrm>
          <a:custGeom>
            <a:rect b="b" l="l" r="r" t="t"/>
            <a:pathLst>
              <a:path extrusionOk="0" h="2955129" w="4760614">
                <a:moveTo>
                  <a:pt x="0" y="0"/>
                </a:moveTo>
                <a:lnTo>
                  <a:pt x="4760614" y="0"/>
                </a:lnTo>
                <a:lnTo>
                  <a:pt x="4760614" y="2955129"/>
                </a:lnTo>
                <a:lnTo>
                  <a:pt x="0" y="2955129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 txBox="1"/>
          <p:nvPr/>
        </p:nvSpPr>
        <p:spPr>
          <a:xfrm>
            <a:off x="502375" y="4702284"/>
            <a:ext cx="33027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71">
                <a:solidFill>
                  <a:srgbClr val="FFFFFF"/>
                </a:solidFill>
              </a:rPr>
              <a:t>Trazabilidad y</a:t>
            </a:r>
            <a:endParaRPr/>
          </a:p>
        </p:txBody>
      </p:sp>
      <p:sp>
        <p:nvSpPr>
          <p:cNvPr id="426" name="Google Shape;426;p11"/>
          <p:cNvSpPr txBox="1"/>
          <p:nvPr/>
        </p:nvSpPr>
        <p:spPr>
          <a:xfrm>
            <a:off x="502375" y="5357300"/>
            <a:ext cx="2330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rgbClr val="38B6FF"/>
                </a:solidFill>
              </a:rPr>
              <a:t>Ley N.º 21.719</a:t>
            </a:r>
            <a:endParaRPr sz="2500"/>
          </a:p>
        </p:txBody>
      </p:sp>
      <p:sp>
        <p:nvSpPr>
          <p:cNvPr id="427" name="Google Shape;427;p11"/>
          <p:cNvSpPr txBox="1"/>
          <p:nvPr/>
        </p:nvSpPr>
        <p:spPr>
          <a:xfrm>
            <a:off x="502375" y="6026815"/>
            <a:ext cx="3399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5">
                <a:solidFill>
                  <a:srgbClr val="FFFFFF"/>
                </a:solidFill>
              </a:rPr>
              <a:t>C</a:t>
            </a:r>
            <a:r>
              <a:rPr b="1" lang="en-US" sz="1405">
                <a:solidFill>
                  <a:srgbClr val="FFFFFF"/>
                </a:solidFill>
              </a:rPr>
              <a:t>umplimiento legal y privacidad proactiva</a:t>
            </a:r>
            <a:endParaRPr sz="1800"/>
          </a:p>
        </p:txBody>
      </p:sp>
      <p:sp>
        <p:nvSpPr>
          <p:cNvPr id="428" name="Google Shape;428;p11"/>
          <p:cNvSpPr/>
          <p:nvPr/>
        </p:nvSpPr>
        <p:spPr>
          <a:xfrm>
            <a:off x="6486963" y="1099236"/>
            <a:ext cx="3826030" cy="1894619"/>
          </a:xfrm>
          <a:custGeom>
            <a:rect b="b" l="l" r="r" t="t"/>
            <a:pathLst>
              <a:path extrusionOk="0" h="2526159" w="5101374">
                <a:moveTo>
                  <a:pt x="0" y="0"/>
                </a:moveTo>
                <a:lnTo>
                  <a:pt x="5101374" y="0"/>
                </a:lnTo>
                <a:lnTo>
                  <a:pt x="5101374" y="2526159"/>
                </a:lnTo>
                <a:lnTo>
                  <a:pt x="0" y="2526159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6776726" y="1559625"/>
            <a:ext cx="158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Inmutabilidad</a:t>
            </a:r>
            <a:endParaRPr/>
          </a:p>
        </p:txBody>
      </p:sp>
      <p:sp>
        <p:nvSpPr>
          <p:cNvPr id="430" name="Google Shape;430;p11"/>
          <p:cNvSpPr txBox="1"/>
          <p:nvPr/>
        </p:nvSpPr>
        <p:spPr>
          <a:xfrm>
            <a:off x="6776719" y="1998960"/>
            <a:ext cx="25440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Base de datos con hasheo de contraseñas para asegurar la integridad total.</a:t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9666552" y="1412027"/>
            <a:ext cx="390871" cy="482592"/>
          </a:xfrm>
          <a:custGeom>
            <a:rect b="b" l="l" r="r" t="t"/>
            <a:pathLst>
              <a:path extrusionOk="0" h="643455" w="521162">
                <a:moveTo>
                  <a:pt x="0" y="0"/>
                </a:moveTo>
                <a:lnTo>
                  <a:pt x="521162" y="0"/>
                </a:lnTo>
                <a:lnTo>
                  <a:pt x="521162" y="643455"/>
                </a:lnTo>
                <a:lnTo>
                  <a:pt x="0" y="643455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486963" y="3145782"/>
            <a:ext cx="3826030" cy="1894619"/>
          </a:xfrm>
          <a:custGeom>
            <a:rect b="b" l="l" r="r" t="t"/>
            <a:pathLst>
              <a:path extrusionOk="0" h="2526159" w="5101374">
                <a:moveTo>
                  <a:pt x="0" y="0"/>
                </a:moveTo>
                <a:lnTo>
                  <a:pt x="5101374" y="0"/>
                </a:lnTo>
                <a:lnTo>
                  <a:pt x="5101374" y="2526159"/>
                </a:lnTo>
                <a:lnTo>
                  <a:pt x="0" y="2526159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 txBox="1"/>
          <p:nvPr/>
        </p:nvSpPr>
        <p:spPr>
          <a:xfrm>
            <a:off x="6776725" y="3969850"/>
            <a:ext cx="33990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Los datos se </a:t>
            </a:r>
            <a:r>
              <a:rPr lang="en-US">
                <a:solidFill>
                  <a:srgbClr val="FFFFFF"/>
                </a:solidFill>
              </a:rPr>
              <a:t>cifran</a:t>
            </a:r>
            <a:r>
              <a:rPr lang="en-US">
                <a:solidFill>
                  <a:srgbClr val="FFFFFF"/>
                </a:solidFill>
              </a:rPr>
              <a:t> en bytea debido a que se encuentra en postgresql </a:t>
            </a:r>
            <a:r>
              <a:rPr lang="en-US">
                <a:solidFill>
                  <a:srgbClr val="FFFFFF"/>
                </a:solidFill>
              </a:rPr>
              <a:t>además</a:t>
            </a:r>
            <a:r>
              <a:rPr lang="en-US">
                <a:solidFill>
                  <a:srgbClr val="FFFFFF"/>
                </a:solidFill>
              </a:rPr>
              <a:t> de contar con row-level security </a:t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9666552" y="3458573"/>
            <a:ext cx="390871" cy="482592"/>
          </a:xfrm>
          <a:custGeom>
            <a:rect b="b" l="l" r="r" t="t"/>
            <a:pathLst>
              <a:path extrusionOk="0" h="643455" w="521162">
                <a:moveTo>
                  <a:pt x="0" y="0"/>
                </a:moveTo>
                <a:lnTo>
                  <a:pt x="521162" y="0"/>
                </a:lnTo>
                <a:lnTo>
                  <a:pt x="521162" y="643455"/>
                </a:lnTo>
                <a:lnTo>
                  <a:pt x="0" y="643455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6486963" y="5192328"/>
            <a:ext cx="3826030" cy="2055483"/>
          </a:xfrm>
          <a:custGeom>
            <a:rect b="b" l="l" r="r" t="t"/>
            <a:pathLst>
              <a:path extrusionOk="0" h="2740644" w="5101374">
                <a:moveTo>
                  <a:pt x="0" y="0"/>
                </a:moveTo>
                <a:lnTo>
                  <a:pt x="5101374" y="0"/>
                </a:lnTo>
                <a:lnTo>
                  <a:pt x="5101374" y="2740644"/>
                </a:lnTo>
                <a:lnTo>
                  <a:pt x="0" y="2740644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 txBox="1"/>
          <p:nvPr/>
        </p:nvSpPr>
        <p:spPr>
          <a:xfrm>
            <a:off x="6776719" y="5547565"/>
            <a:ext cx="106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Privacidad</a:t>
            </a:r>
            <a:endParaRPr/>
          </a:p>
        </p:txBody>
      </p:sp>
      <p:sp>
        <p:nvSpPr>
          <p:cNvPr id="437" name="Google Shape;437;p11"/>
          <p:cNvSpPr txBox="1"/>
          <p:nvPr/>
        </p:nvSpPr>
        <p:spPr>
          <a:xfrm>
            <a:off x="6776725" y="5835775"/>
            <a:ext cx="33990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Cifrado y gestion de roles en la base de datos para datos personales sensibles, tales como situacion socioeconomica,sexo, y datos biometricos </a:t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9666552" y="5353192"/>
            <a:ext cx="390871" cy="482592"/>
          </a:xfrm>
          <a:custGeom>
            <a:rect b="b" l="l" r="r" t="t"/>
            <a:pathLst>
              <a:path extrusionOk="0" h="643455" w="521162">
                <a:moveTo>
                  <a:pt x="0" y="0"/>
                </a:moveTo>
                <a:lnTo>
                  <a:pt x="521162" y="0"/>
                </a:lnTo>
                <a:lnTo>
                  <a:pt x="521162" y="643455"/>
                </a:lnTo>
                <a:lnTo>
                  <a:pt x="0" y="643455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 txBox="1"/>
          <p:nvPr/>
        </p:nvSpPr>
        <p:spPr>
          <a:xfrm>
            <a:off x="961995" y="555074"/>
            <a:ext cx="183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</a:rPr>
              <a:t>ejecución determinística</a:t>
            </a:r>
            <a:endParaRPr sz="1200"/>
          </a:p>
        </p:txBody>
      </p:sp>
      <p:sp>
        <p:nvSpPr>
          <p:cNvPr id="440" name="Google Shape;440;p11"/>
          <p:cNvSpPr txBox="1"/>
          <p:nvPr/>
        </p:nvSpPr>
        <p:spPr>
          <a:xfrm>
            <a:off x="8189951" y="354675"/>
            <a:ext cx="147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C</a:t>
            </a:r>
            <a:r>
              <a:rPr b="1" lang="en-US" sz="1200">
                <a:solidFill>
                  <a:srgbClr val="FFFFFF"/>
                </a:solidFill>
              </a:rPr>
              <a:t>umplimiento legal</a:t>
            </a:r>
            <a:endParaRPr sz="1200"/>
          </a:p>
        </p:txBody>
      </p:sp>
      <p:sp>
        <p:nvSpPr>
          <p:cNvPr id="441" name="Google Shape;441;p11"/>
          <p:cNvSpPr txBox="1"/>
          <p:nvPr/>
        </p:nvSpPr>
        <p:spPr>
          <a:xfrm>
            <a:off x="6776719" y="3553612"/>
            <a:ext cx="221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</a:rPr>
              <a:t>Cifrados de datos</a:t>
            </a:r>
            <a:endParaRPr/>
          </a:p>
        </p:txBody>
      </p:sp>
      <p:pic>
        <p:nvPicPr>
          <p:cNvPr id="442" name="Google Shape;442;p1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75838" y="80350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1"/>
          <p:cNvSpPr/>
          <p:nvPr/>
        </p:nvSpPr>
        <p:spPr>
          <a:xfrm>
            <a:off x="7396186" y="0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9432326" y="420900"/>
            <a:ext cx="12612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Protección de Datos</a:t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9175675" y="208825"/>
            <a:ext cx="1517924" cy="948254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"/>
          <p:cNvSpPr/>
          <p:nvPr/>
        </p:nvSpPr>
        <p:spPr>
          <a:xfrm>
            <a:off x="0" y="-12700"/>
            <a:ext cx="10831349" cy="7636208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507925" y="139084"/>
            <a:ext cx="388413" cy="645070"/>
          </a:xfrm>
          <a:custGeom>
            <a:rect b="b" l="l" r="r" t="t"/>
            <a:pathLst>
              <a:path extrusionOk="0" h="860094" w="517884">
                <a:moveTo>
                  <a:pt x="0" y="0"/>
                </a:moveTo>
                <a:lnTo>
                  <a:pt x="517884" y="0"/>
                </a:lnTo>
                <a:lnTo>
                  <a:pt x="517884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07925" y="300352"/>
            <a:ext cx="388413" cy="322535"/>
          </a:xfrm>
          <a:custGeom>
            <a:rect b="b" l="l" r="r" t="t"/>
            <a:pathLst>
              <a:path extrusionOk="0" h="430047" w="517884">
                <a:moveTo>
                  <a:pt x="0" y="0"/>
                </a:moveTo>
                <a:lnTo>
                  <a:pt x="517884" y="0"/>
                </a:lnTo>
                <a:lnTo>
                  <a:pt x="517884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972684" y="328068"/>
            <a:ext cx="13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</a:t>
            </a:r>
            <a:r>
              <a:rPr lang="en-US" sz="2000">
                <a:solidFill>
                  <a:srgbClr val="FFFFFF"/>
                </a:solidFill>
              </a:rPr>
              <a:t>ronos </a:t>
            </a:r>
            <a:r>
              <a:rPr lang="en-US" sz="2000">
                <a:solidFill>
                  <a:srgbClr val="3798FF"/>
                </a:solidFill>
              </a:rPr>
              <a:t>AI</a:t>
            </a:r>
            <a:endParaRPr sz="2000"/>
          </a:p>
        </p:txBody>
      </p:sp>
      <p:sp>
        <p:nvSpPr>
          <p:cNvPr id="455" name="Google Shape;455;p12"/>
          <p:cNvSpPr/>
          <p:nvPr/>
        </p:nvSpPr>
        <p:spPr>
          <a:xfrm>
            <a:off x="523750" y="1310740"/>
            <a:ext cx="515395" cy="170754"/>
          </a:xfrm>
          <a:custGeom>
            <a:rect b="b" l="l" r="r" t="t"/>
            <a:pathLst>
              <a:path extrusionOk="0" h="227672" w="687193">
                <a:moveTo>
                  <a:pt x="0" y="0"/>
                </a:moveTo>
                <a:lnTo>
                  <a:pt x="687193" y="0"/>
                </a:lnTo>
                <a:lnTo>
                  <a:pt x="687193" y="227672"/>
                </a:lnTo>
                <a:lnTo>
                  <a:pt x="0" y="227672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 txBox="1"/>
          <p:nvPr/>
        </p:nvSpPr>
        <p:spPr>
          <a:xfrm>
            <a:off x="507922" y="1645575"/>
            <a:ext cx="4332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79">
                <a:solidFill>
                  <a:srgbClr val="FFFFFF"/>
                </a:solidFill>
              </a:rPr>
              <a:t>Trade Offs</a:t>
            </a:r>
            <a:endParaRPr b="1"/>
          </a:p>
        </p:txBody>
      </p:sp>
      <p:sp>
        <p:nvSpPr>
          <p:cNvPr id="457" name="Google Shape;457;p12"/>
          <p:cNvSpPr txBox="1"/>
          <p:nvPr/>
        </p:nvSpPr>
        <p:spPr>
          <a:xfrm>
            <a:off x="573624" y="2311963"/>
            <a:ext cx="5257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51">
                <a:solidFill>
                  <a:srgbClr val="3798FF"/>
                </a:solidFill>
              </a:rPr>
              <a:t>Arquitectónicos</a:t>
            </a:r>
            <a:endParaRPr/>
          </a:p>
        </p:txBody>
      </p:sp>
      <p:sp>
        <p:nvSpPr>
          <p:cNvPr id="458" name="Google Shape;458;p12"/>
          <p:cNvSpPr txBox="1"/>
          <p:nvPr/>
        </p:nvSpPr>
        <p:spPr>
          <a:xfrm>
            <a:off x="523703" y="3542616"/>
            <a:ext cx="46068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3">
                <a:solidFill>
                  <a:srgbClr val="FFFFFF"/>
                </a:solidFill>
              </a:rPr>
              <a:t>Análisis de compromisos técnicos bajo la metodología ATAM para garantizar la resiliencia del sistema operativo autónomo.</a:t>
            </a:r>
            <a:endParaRPr sz="1900"/>
          </a:p>
        </p:txBody>
      </p:sp>
      <p:sp>
        <p:nvSpPr>
          <p:cNvPr id="459" name="Google Shape;459;p12"/>
          <p:cNvSpPr txBox="1"/>
          <p:nvPr/>
        </p:nvSpPr>
        <p:spPr>
          <a:xfrm>
            <a:off x="523703" y="4860403"/>
            <a:ext cx="4606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En el ecosistema de Cronos, la integridad operativa es innegociable. Priorizamos el blindaje estructural mediante mecanismos de validación y contención, asegurando que la IA opere dentro de parámetros de riesgo controlado.</a:t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07925" y="5963689"/>
            <a:ext cx="4332301" cy="170754"/>
          </a:xfrm>
          <a:custGeom>
            <a:rect b="b" l="l" r="r" t="t"/>
            <a:pathLst>
              <a:path extrusionOk="0" h="227672" w="5776401">
                <a:moveTo>
                  <a:pt x="0" y="0"/>
                </a:moveTo>
                <a:lnTo>
                  <a:pt x="5776401" y="0"/>
                </a:lnTo>
                <a:lnTo>
                  <a:pt x="5776401" y="227672"/>
                </a:lnTo>
                <a:lnTo>
                  <a:pt x="0" y="22767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 txBox="1"/>
          <p:nvPr/>
        </p:nvSpPr>
        <p:spPr>
          <a:xfrm>
            <a:off x="523753" y="6580846"/>
            <a:ext cx="684085" cy="211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82">
                <a:solidFill>
                  <a:srgbClr val="3798FF"/>
                </a:solidFill>
                <a:latin typeface="Anton"/>
                <a:ea typeface="Anton"/>
                <a:cs typeface="Anton"/>
                <a:sym typeface="Anton"/>
              </a:rPr>
              <a:t>Cronos</a:t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8522675" y="139075"/>
            <a:ext cx="1387979" cy="645071"/>
          </a:xfrm>
          <a:custGeom>
            <a:rect b="b" l="l" r="r" t="t"/>
            <a:pathLst>
              <a:path extrusionOk="0" h="860094" w="1703042">
                <a:moveTo>
                  <a:pt x="0" y="0"/>
                </a:moveTo>
                <a:lnTo>
                  <a:pt x="1703042" y="0"/>
                </a:lnTo>
                <a:lnTo>
                  <a:pt x="1703042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8586175" y="296977"/>
            <a:ext cx="261432" cy="322535"/>
          </a:xfrm>
          <a:custGeom>
            <a:rect b="b" l="l" r="r" t="t"/>
            <a:pathLst>
              <a:path extrusionOk="0" h="430047" w="348576">
                <a:moveTo>
                  <a:pt x="0" y="0"/>
                </a:moveTo>
                <a:lnTo>
                  <a:pt x="348576" y="0"/>
                </a:lnTo>
                <a:lnTo>
                  <a:pt x="348576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8786326" y="361950"/>
            <a:ext cx="974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Arquitectura</a:t>
            </a:r>
            <a:endParaRPr sz="1000"/>
          </a:p>
        </p:txBody>
      </p:sp>
      <p:sp>
        <p:nvSpPr>
          <p:cNvPr id="465" name="Google Shape;465;p12"/>
          <p:cNvSpPr/>
          <p:nvPr/>
        </p:nvSpPr>
        <p:spPr>
          <a:xfrm>
            <a:off x="9792493" y="139084"/>
            <a:ext cx="515394" cy="645070"/>
          </a:xfrm>
          <a:custGeom>
            <a:rect b="b" l="l" r="r" t="t"/>
            <a:pathLst>
              <a:path extrusionOk="0" h="860094" w="687193">
                <a:moveTo>
                  <a:pt x="0" y="0"/>
                </a:moveTo>
                <a:lnTo>
                  <a:pt x="687193" y="0"/>
                </a:lnTo>
                <a:lnTo>
                  <a:pt x="687193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9919474" y="300352"/>
            <a:ext cx="261432" cy="322535"/>
          </a:xfrm>
          <a:custGeom>
            <a:rect b="b" l="l" r="r" t="t"/>
            <a:pathLst>
              <a:path extrusionOk="0" h="430047" w="348576">
                <a:moveTo>
                  <a:pt x="0" y="0"/>
                </a:moveTo>
                <a:lnTo>
                  <a:pt x="348576" y="0"/>
                </a:lnTo>
                <a:lnTo>
                  <a:pt x="348576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6198475" y="1310750"/>
            <a:ext cx="4109411" cy="6163741"/>
          </a:xfrm>
          <a:custGeom>
            <a:rect b="b" l="l" r="r" t="t"/>
            <a:pathLst>
              <a:path extrusionOk="0" h="7146366" w="5268476">
                <a:moveTo>
                  <a:pt x="0" y="0"/>
                </a:moveTo>
                <a:lnTo>
                  <a:pt x="5268476" y="0"/>
                </a:lnTo>
                <a:lnTo>
                  <a:pt x="5268476" y="7146366"/>
                </a:lnTo>
                <a:lnTo>
                  <a:pt x="0" y="7146366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6701874" y="1645573"/>
            <a:ext cx="522864" cy="635584"/>
          </a:xfrm>
          <a:custGeom>
            <a:rect b="b" l="l" r="r" t="t"/>
            <a:pathLst>
              <a:path extrusionOk="0" h="847445" w="697152">
                <a:moveTo>
                  <a:pt x="0" y="0"/>
                </a:moveTo>
                <a:lnTo>
                  <a:pt x="697152" y="0"/>
                </a:lnTo>
                <a:lnTo>
                  <a:pt x="697152" y="847445"/>
                </a:lnTo>
                <a:lnTo>
                  <a:pt x="0" y="847445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 txBox="1"/>
          <p:nvPr/>
        </p:nvSpPr>
        <p:spPr>
          <a:xfrm>
            <a:off x="6837255" y="1878390"/>
            <a:ext cx="213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/>
          </a:p>
        </p:txBody>
      </p:sp>
      <p:sp>
        <p:nvSpPr>
          <p:cNvPr id="470" name="Google Shape;470;p12"/>
          <p:cNvSpPr txBox="1"/>
          <p:nvPr/>
        </p:nvSpPr>
        <p:spPr>
          <a:xfrm>
            <a:off x="7316628" y="1845625"/>
            <a:ext cx="201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7F9F1"/>
                </a:solidFill>
              </a:rPr>
              <a:t>Seguridad vs Latencia</a:t>
            </a:r>
            <a:endParaRPr>
              <a:solidFill>
                <a:srgbClr val="17F9F1"/>
              </a:solidFill>
            </a:endParaRPr>
          </a:p>
        </p:txBody>
      </p:sp>
      <p:sp>
        <p:nvSpPr>
          <p:cNvPr id="471" name="Google Shape;471;p12"/>
          <p:cNvSpPr txBox="1"/>
          <p:nvPr/>
        </p:nvSpPr>
        <p:spPr>
          <a:xfrm>
            <a:off x="7296950" y="2122000"/>
            <a:ext cx="25761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La validación en dos pasos prioriza el blindaje total del sistema frente a la rapidez, garantizando una IA robusta.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6701874" y="3541299"/>
            <a:ext cx="522864" cy="635584"/>
          </a:xfrm>
          <a:custGeom>
            <a:rect b="b" l="l" r="r" t="t"/>
            <a:pathLst>
              <a:path extrusionOk="0" h="847445" w="697152">
                <a:moveTo>
                  <a:pt x="0" y="0"/>
                </a:moveTo>
                <a:lnTo>
                  <a:pt x="697152" y="0"/>
                </a:lnTo>
                <a:lnTo>
                  <a:pt x="697152" y="847445"/>
                </a:lnTo>
                <a:lnTo>
                  <a:pt x="0" y="847445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837243" y="3780821"/>
            <a:ext cx="2139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/>
          </a:p>
        </p:txBody>
      </p:sp>
      <p:sp>
        <p:nvSpPr>
          <p:cNvPr id="474" name="Google Shape;474;p12"/>
          <p:cNvSpPr txBox="1"/>
          <p:nvPr/>
        </p:nvSpPr>
        <p:spPr>
          <a:xfrm>
            <a:off x="7252878" y="3983800"/>
            <a:ext cx="28299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El contenedor previene el auto sabotaje </a:t>
            </a:r>
            <a:r>
              <a:rPr lang="en-US">
                <a:solidFill>
                  <a:schemeClr val="lt1"/>
                </a:solidFill>
              </a:rPr>
              <a:t>anticipando</a:t>
            </a:r>
            <a:r>
              <a:rPr lang="en-US">
                <a:solidFill>
                  <a:schemeClr val="lt1"/>
                </a:solidFill>
              </a:rPr>
              <a:t> la integridad operativa a la velocidad masiva de respuesta.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7252869" y="5138769"/>
            <a:ext cx="2420113" cy="161267"/>
          </a:xfrm>
          <a:custGeom>
            <a:rect b="b" l="l" r="r" t="t"/>
            <a:pathLst>
              <a:path extrusionOk="0" h="215023" w="3226817">
                <a:moveTo>
                  <a:pt x="0" y="0"/>
                </a:moveTo>
                <a:lnTo>
                  <a:pt x="3226817" y="0"/>
                </a:lnTo>
                <a:lnTo>
                  <a:pt x="3226817" y="215023"/>
                </a:lnTo>
                <a:lnTo>
                  <a:pt x="0" y="215023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 txBox="1"/>
          <p:nvPr/>
        </p:nvSpPr>
        <p:spPr>
          <a:xfrm>
            <a:off x="6503034" y="5711538"/>
            <a:ext cx="8823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/>
          </a:p>
        </p:txBody>
      </p:sp>
      <p:sp>
        <p:nvSpPr>
          <p:cNvPr id="477" name="Google Shape;477;p12"/>
          <p:cNvSpPr txBox="1"/>
          <p:nvPr/>
        </p:nvSpPr>
        <p:spPr>
          <a:xfrm>
            <a:off x="7252878" y="3715050"/>
            <a:ext cx="2420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6">
                <a:solidFill>
                  <a:srgbClr val="17F9F1"/>
                </a:solidFill>
              </a:rPr>
              <a:t>Autonomía vs Contención</a:t>
            </a:r>
            <a:endParaRPr sz="1600">
              <a:solidFill>
                <a:srgbClr val="17F9F1"/>
              </a:solidFill>
            </a:endParaRPr>
          </a:p>
        </p:txBody>
      </p:sp>
      <p:sp>
        <p:nvSpPr>
          <p:cNvPr id="478" name="Google Shape;478;p12"/>
          <p:cNvSpPr txBox="1"/>
          <p:nvPr/>
        </p:nvSpPr>
        <p:spPr>
          <a:xfrm>
            <a:off x="523748" y="6907725"/>
            <a:ext cx="15498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IA Determinística</a:t>
            </a:r>
            <a:endParaRPr sz="1800"/>
          </a:p>
        </p:txBody>
      </p:sp>
      <p:sp>
        <p:nvSpPr>
          <p:cNvPr id="479" name="Google Shape;479;p12"/>
          <p:cNvSpPr txBox="1"/>
          <p:nvPr/>
        </p:nvSpPr>
        <p:spPr>
          <a:xfrm>
            <a:off x="2811163" y="6587383"/>
            <a:ext cx="438242" cy="189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1">
                <a:solidFill>
                  <a:srgbClr val="3798FF"/>
                </a:solidFill>
                <a:latin typeface="Anton"/>
                <a:ea typeface="Anton"/>
                <a:cs typeface="Anton"/>
                <a:sym typeface="Anton"/>
              </a:rPr>
              <a:t>Atam</a:t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2811180" y="6907725"/>
            <a:ext cx="1477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Marco de evaluación</a:t>
            </a:r>
            <a:endParaRPr sz="1800"/>
          </a:p>
        </p:txBody>
      </p:sp>
      <p:sp>
        <p:nvSpPr>
          <p:cNvPr id="481" name="Google Shape;481;p12"/>
          <p:cNvSpPr txBox="1"/>
          <p:nvPr/>
        </p:nvSpPr>
        <p:spPr>
          <a:xfrm>
            <a:off x="994045" y="733975"/>
            <a:ext cx="2576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Ejecución Determinística</a:t>
            </a:r>
            <a:endParaRPr sz="900"/>
          </a:p>
        </p:txBody>
      </p:sp>
      <p:sp>
        <p:nvSpPr>
          <p:cNvPr id="482" name="Google Shape;482;p12"/>
          <p:cNvSpPr/>
          <p:nvPr/>
        </p:nvSpPr>
        <p:spPr>
          <a:xfrm>
            <a:off x="6682761" y="5596172"/>
            <a:ext cx="522864" cy="474317"/>
          </a:xfrm>
          <a:custGeom>
            <a:rect b="b" l="l" r="r" t="t"/>
            <a:pathLst>
              <a:path extrusionOk="0" h="632422" w="697152">
                <a:moveTo>
                  <a:pt x="0" y="0"/>
                </a:moveTo>
                <a:lnTo>
                  <a:pt x="697152" y="0"/>
                </a:lnTo>
                <a:lnTo>
                  <a:pt x="697152" y="632422"/>
                </a:lnTo>
                <a:lnTo>
                  <a:pt x="0" y="632422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7252875" y="5596175"/>
            <a:ext cx="21471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76">
                <a:solidFill>
                  <a:srgbClr val="17F9F1"/>
                </a:solidFill>
              </a:rPr>
              <a:t>Integridad Operativa</a:t>
            </a:r>
            <a:endParaRPr sz="1600">
              <a:solidFill>
                <a:srgbClr val="17F9F1"/>
              </a:solidFill>
            </a:endParaRPr>
          </a:p>
        </p:txBody>
      </p:sp>
      <p:sp>
        <p:nvSpPr>
          <p:cNvPr id="484" name="Google Shape;484;p12"/>
          <p:cNvSpPr txBox="1"/>
          <p:nvPr/>
        </p:nvSpPr>
        <p:spPr>
          <a:xfrm>
            <a:off x="7205625" y="5945525"/>
            <a:ext cx="30261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Priorización crítica de la consistencia del estado del sistema sobre el rendimiento de procesamiento bruto en entornos de alta volatilidad.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85" name="Google Shape;485;p1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98250" y="211313"/>
            <a:ext cx="22955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22676" y="210300"/>
            <a:ext cx="1785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2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Métricas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3"/>
          <p:cNvSpPr/>
          <p:nvPr/>
        </p:nvSpPr>
        <p:spPr>
          <a:xfrm>
            <a:off x="0" y="0"/>
            <a:ext cx="10760090" cy="756060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374784" y="312656"/>
            <a:ext cx="517202" cy="634787"/>
          </a:xfrm>
          <a:custGeom>
            <a:rect b="b" l="l" r="r" t="t"/>
            <a:pathLst>
              <a:path extrusionOk="0" h="846383" w="689602">
                <a:moveTo>
                  <a:pt x="0" y="0"/>
                </a:moveTo>
                <a:lnTo>
                  <a:pt x="689602" y="0"/>
                </a:lnTo>
                <a:lnTo>
                  <a:pt x="689602" y="846383"/>
                </a:lnTo>
                <a:lnTo>
                  <a:pt x="0" y="84638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02210" y="464247"/>
            <a:ext cx="262349" cy="331605"/>
          </a:xfrm>
          <a:custGeom>
            <a:rect b="b" l="l" r="r" t="t"/>
            <a:pathLst>
              <a:path extrusionOk="0" h="442140" w="349798">
                <a:moveTo>
                  <a:pt x="0" y="0"/>
                </a:moveTo>
                <a:lnTo>
                  <a:pt x="349798" y="0"/>
                </a:lnTo>
                <a:lnTo>
                  <a:pt x="349798" y="442140"/>
                </a:lnTo>
                <a:lnTo>
                  <a:pt x="0" y="44214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 txBox="1"/>
          <p:nvPr/>
        </p:nvSpPr>
        <p:spPr>
          <a:xfrm>
            <a:off x="994061" y="522456"/>
            <a:ext cx="1710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6">
                <a:solidFill>
                  <a:srgbClr val="FFFFFF"/>
                </a:solidFill>
              </a:rPr>
              <a:t>K</a:t>
            </a:r>
            <a:r>
              <a:rPr lang="en-US" sz="20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 </a:t>
            </a:r>
            <a:r>
              <a:rPr lang="en-US" sz="2006">
                <a:solidFill>
                  <a:srgbClr val="007AFF"/>
                </a:solidFill>
              </a:rPr>
              <a:t>AI</a:t>
            </a:r>
            <a:endParaRPr>
              <a:solidFill>
                <a:srgbClr val="007AFF"/>
              </a:solidFill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884490" y="786378"/>
            <a:ext cx="1791466" cy="161065"/>
          </a:xfrm>
          <a:custGeom>
            <a:rect b="b" l="l" r="r" t="t"/>
            <a:pathLst>
              <a:path extrusionOk="0" h="214754" w="2388621">
                <a:moveTo>
                  <a:pt x="0" y="0"/>
                </a:moveTo>
                <a:lnTo>
                  <a:pt x="2388621" y="0"/>
                </a:lnTo>
                <a:lnTo>
                  <a:pt x="2388621" y="214754"/>
                </a:lnTo>
                <a:lnTo>
                  <a:pt x="0" y="21475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8777434" y="312656"/>
            <a:ext cx="1026907" cy="483196"/>
          </a:xfrm>
          <a:custGeom>
            <a:rect b="b" l="l" r="r" t="t"/>
            <a:pathLst>
              <a:path extrusionOk="0" h="644262" w="1369210">
                <a:moveTo>
                  <a:pt x="0" y="0"/>
                </a:moveTo>
                <a:lnTo>
                  <a:pt x="1369210" y="0"/>
                </a:lnTo>
                <a:lnTo>
                  <a:pt x="1369210" y="644262"/>
                </a:lnTo>
                <a:lnTo>
                  <a:pt x="0" y="64426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8904861" y="464247"/>
            <a:ext cx="262349" cy="170540"/>
          </a:xfrm>
          <a:custGeom>
            <a:rect b="b" l="l" r="r" t="t"/>
            <a:pathLst>
              <a:path extrusionOk="0" h="227387" w="349798">
                <a:moveTo>
                  <a:pt x="0" y="0"/>
                </a:moveTo>
                <a:lnTo>
                  <a:pt x="349798" y="0"/>
                </a:lnTo>
                <a:lnTo>
                  <a:pt x="349798" y="227387"/>
                </a:lnTo>
                <a:lnTo>
                  <a:pt x="0" y="227387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 txBox="1"/>
          <p:nvPr/>
        </p:nvSpPr>
        <p:spPr>
          <a:xfrm>
            <a:off x="9235150" y="538393"/>
            <a:ext cx="427553" cy="74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v2.0.26</a:t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9796846" y="312656"/>
            <a:ext cx="517202" cy="483196"/>
          </a:xfrm>
          <a:custGeom>
            <a:rect b="b" l="l" r="r" t="t"/>
            <a:pathLst>
              <a:path extrusionOk="0" h="644262" w="689602">
                <a:moveTo>
                  <a:pt x="0" y="0"/>
                </a:moveTo>
                <a:lnTo>
                  <a:pt x="689602" y="0"/>
                </a:lnTo>
                <a:lnTo>
                  <a:pt x="689602" y="644262"/>
                </a:lnTo>
                <a:lnTo>
                  <a:pt x="0" y="644262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9924272" y="464247"/>
            <a:ext cx="262349" cy="331605"/>
          </a:xfrm>
          <a:custGeom>
            <a:rect b="b" l="l" r="r" t="t"/>
            <a:pathLst>
              <a:path extrusionOk="0" h="442140" w="349798">
                <a:moveTo>
                  <a:pt x="0" y="0"/>
                </a:moveTo>
                <a:lnTo>
                  <a:pt x="349798" y="0"/>
                </a:lnTo>
                <a:lnTo>
                  <a:pt x="349798" y="442140"/>
                </a:lnTo>
                <a:lnTo>
                  <a:pt x="0" y="44214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374784" y="1724348"/>
            <a:ext cx="134922" cy="331605"/>
          </a:xfrm>
          <a:custGeom>
            <a:rect b="b" l="l" r="r" t="t"/>
            <a:pathLst>
              <a:path extrusionOk="0" h="442140" w="179896">
                <a:moveTo>
                  <a:pt x="0" y="0"/>
                </a:moveTo>
                <a:lnTo>
                  <a:pt x="179896" y="0"/>
                </a:lnTo>
                <a:lnTo>
                  <a:pt x="179896" y="442140"/>
                </a:lnTo>
                <a:lnTo>
                  <a:pt x="0" y="44214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630641" y="1847559"/>
            <a:ext cx="24477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rgbClr val="00C4CC"/>
                </a:solidFill>
              </a:rPr>
              <a:t>Estructura del Proyecto</a:t>
            </a:r>
            <a:endParaRPr sz="1600"/>
          </a:p>
        </p:txBody>
      </p:sp>
      <p:sp>
        <p:nvSpPr>
          <p:cNvPr id="505" name="Google Shape;505;p13"/>
          <p:cNvSpPr txBox="1"/>
          <p:nvPr/>
        </p:nvSpPr>
        <p:spPr>
          <a:xfrm>
            <a:off x="502375" y="2293425"/>
            <a:ext cx="53370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8">
                <a:solidFill>
                  <a:srgbClr val="FFFFFF"/>
                </a:solidFill>
              </a:rPr>
              <a:t>Equipo de desarrollo</a:t>
            </a:r>
            <a:endParaRPr/>
          </a:p>
        </p:txBody>
      </p:sp>
      <p:sp>
        <p:nvSpPr>
          <p:cNvPr id="506" name="Google Shape;506;p13"/>
          <p:cNvSpPr txBox="1"/>
          <p:nvPr/>
        </p:nvSpPr>
        <p:spPr>
          <a:xfrm>
            <a:off x="502375" y="2946300"/>
            <a:ext cx="53370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85">
                <a:solidFill>
                  <a:srgbClr val="006EFF"/>
                </a:solidFill>
              </a:rPr>
              <a:t>y responsabilidades</a:t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374784" y="3626764"/>
            <a:ext cx="5734191" cy="947443"/>
          </a:xfrm>
          <a:custGeom>
            <a:rect b="b" l="l" r="r" t="t"/>
            <a:pathLst>
              <a:path extrusionOk="0" h="1263258" w="7645588">
                <a:moveTo>
                  <a:pt x="0" y="0"/>
                </a:moveTo>
                <a:lnTo>
                  <a:pt x="7645588" y="0"/>
                </a:lnTo>
                <a:lnTo>
                  <a:pt x="7645588" y="1263258"/>
                </a:lnTo>
                <a:lnTo>
                  <a:pt x="0" y="1263258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644469" y="3811132"/>
            <a:ext cx="5194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6">
                <a:solidFill>
                  <a:srgbClr val="00C4CC"/>
                </a:solidFill>
              </a:rPr>
              <a:t>Nicolás Zamora:</a:t>
            </a:r>
            <a:r>
              <a:rPr lang="en-US" sz="1446">
                <a:solidFill>
                  <a:srgbClr val="FFFFFF"/>
                </a:solidFill>
              </a:rPr>
              <a:t> Infraestructura crítica, red, </a:t>
            </a:r>
            <a:r>
              <a:rPr lang="en-US" sz="1446">
                <a:solidFill>
                  <a:srgbClr val="006EFF"/>
                </a:solidFill>
              </a:rPr>
              <a:t>Gateway ARGOS</a:t>
            </a:r>
            <a:r>
              <a:rPr lang="en-US" sz="1446">
                <a:solidFill>
                  <a:srgbClr val="FFFFFF"/>
                </a:solidFill>
              </a:rPr>
              <a:t> (intercepción TLS) y base de la interfaz </a:t>
            </a:r>
            <a:r>
              <a:rPr lang="en-US" sz="1446">
                <a:solidFill>
                  <a:srgbClr val="006EFF"/>
                </a:solidFill>
              </a:rPr>
              <a:t>TEMIS</a:t>
            </a:r>
            <a:r>
              <a:rPr lang="en-US" sz="1446">
                <a:solidFill>
                  <a:srgbClr val="FFFFFF"/>
                </a:solidFill>
              </a:rPr>
              <a:t>.</a:t>
            </a:r>
            <a:endParaRPr sz="1900"/>
          </a:p>
        </p:txBody>
      </p:sp>
      <p:sp>
        <p:nvSpPr>
          <p:cNvPr id="509" name="Google Shape;509;p13"/>
          <p:cNvSpPr/>
          <p:nvPr/>
        </p:nvSpPr>
        <p:spPr>
          <a:xfrm>
            <a:off x="374784" y="4718270"/>
            <a:ext cx="5734191" cy="956918"/>
          </a:xfrm>
          <a:custGeom>
            <a:rect b="b" l="l" r="r" t="t"/>
            <a:pathLst>
              <a:path extrusionOk="0" h="1275891" w="7645588">
                <a:moveTo>
                  <a:pt x="0" y="0"/>
                </a:moveTo>
                <a:lnTo>
                  <a:pt x="7645588" y="0"/>
                </a:lnTo>
                <a:lnTo>
                  <a:pt x="7645588" y="1275891"/>
                </a:lnTo>
                <a:lnTo>
                  <a:pt x="0" y="1275891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 txBox="1"/>
          <p:nvPr/>
        </p:nvSpPr>
        <p:spPr>
          <a:xfrm>
            <a:off x="652019" y="4812936"/>
            <a:ext cx="4906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6">
                <a:solidFill>
                  <a:srgbClr val="00C4CC"/>
                </a:solidFill>
              </a:rPr>
              <a:t>Patricio González:</a:t>
            </a:r>
            <a:r>
              <a:rPr lang="en-US" sz="1446">
                <a:solidFill>
                  <a:srgbClr val="FFFFFF"/>
                </a:solidFill>
              </a:rPr>
              <a:t> Especialista en IA. Implementación de </a:t>
            </a:r>
            <a:r>
              <a:rPr lang="en-US" sz="1446">
                <a:solidFill>
                  <a:srgbClr val="006EFF"/>
                </a:solidFill>
              </a:rPr>
              <a:t>Ollama</a:t>
            </a:r>
            <a:r>
              <a:rPr lang="en-US" sz="1446">
                <a:solidFill>
                  <a:srgbClr val="FFFFFF"/>
                </a:solidFill>
              </a:rPr>
              <a:t>, 25 playbooks  y validador lógico de decisiones.</a:t>
            </a:r>
            <a:endParaRPr sz="1900"/>
          </a:p>
        </p:txBody>
      </p:sp>
      <p:sp>
        <p:nvSpPr>
          <p:cNvPr id="511" name="Google Shape;511;p13"/>
          <p:cNvSpPr/>
          <p:nvPr/>
        </p:nvSpPr>
        <p:spPr>
          <a:xfrm>
            <a:off x="374784" y="5665714"/>
            <a:ext cx="5734191" cy="1108509"/>
          </a:xfrm>
          <a:custGeom>
            <a:rect b="b" l="l" r="r" t="t"/>
            <a:pathLst>
              <a:path extrusionOk="0" h="1478012" w="7645588">
                <a:moveTo>
                  <a:pt x="0" y="0"/>
                </a:moveTo>
                <a:lnTo>
                  <a:pt x="7645588" y="0"/>
                </a:lnTo>
                <a:lnTo>
                  <a:pt x="7645588" y="1478012"/>
                </a:lnTo>
                <a:lnTo>
                  <a:pt x="0" y="1478012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 txBox="1"/>
          <p:nvPr/>
        </p:nvSpPr>
        <p:spPr>
          <a:xfrm>
            <a:off x="644469" y="5986746"/>
            <a:ext cx="51948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6">
                <a:solidFill>
                  <a:srgbClr val="00C4CC"/>
                </a:solidFill>
              </a:rPr>
              <a:t>Rodrigo Riveros: </a:t>
            </a:r>
            <a:r>
              <a:rPr lang="en-US" sz="1446">
                <a:solidFill>
                  <a:srgbClr val="FFFFFF"/>
                </a:solidFill>
              </a:rPr>
              <a:t>Orquestación en n8n, </a:t>
            </a:r>
            <a:r>
              <a:rPr lang="en-US" sz="1446">
                <a:solidFill>
                  <a:srgbClr val="FFFFFF"/>
                </a:solidFill>
              </a:rPr>
              <a:t>Administración</a:t>
            </a:r>
            <a:r>
              <a:rPr lang="en-US" sz="1446">
                <a:solidFill>
                  <a:srgbClr val="FFFFFF"/>
                </a:solidFill>
              </a:rPr>
              <a:t> de postgresql y </a:t>
            </a:r>
            <a:r>
              <a:rPr lang="en-US" sz="1446">
                <a:solidFill>
                  <a:srgbClr val="FFFFFF"/>
                </a:solidFill>
              </a:rPr>
              <a:t>implementación</a:t>
            </a:r>
            <a:r>
              <a:rPr lang="en-US" sz="1446">
                <a:solidFill>
                  <a:srgbClr val="FFFFFF"/>
                </a:solidFill>
              </a:rPr>
              <a:t> y pruebas con ARES.</a:t>
            </a:r>
            <a:endParaRPr sz="1900"/>
          </a:p>
        </p:txBody>
      </p:sp>
      <p:sp>
        <p:nvSpPr>
          <p:cNvPr id="513" name="Google Shape;513;p13"/>
          <p:cNvSpPr/>
          <p:nvPr/>
        </p:nvSpPr>
        <p:spPr>
          <a:xfrm>
            <a:off x="374784" y="3780301"/>
            <a:ext cx="262349" cy="947444"/>
          </a:xfrm>
          <a:custGeom>
            <a:rect b="b" l="l" r="r" t="t"/>
            <a:pathLst>
              <a:path extrusionOk="0" h="1263258" w="349798">
                <a:moveTo>
                  <a:pt x="0" y="0"/>
                </a:moveTo>
                <a:lnTo>
                  <a:pt x="349798" y="0"/>
                </a:lnTo>
                <a:lnTo>
                  <a:pt x="349798" y="1263258"/>
                </a:lnTo>
                <a:lnTo>
                  <a:pt x="0" y="1263258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374784" y="4718270"/>
            <a:ext cx="262349" cy="956918"/>
          </a:xfrm>
          <a:custGeom>
            <a:rect b="b" l="l" r="r" t="t"/>
            <a:pathLst>
              <a:path extrusionOk="0" h="1275891" w="349798">
                <a:moveTo>
                  <a:pt x="0" y="0"/>
                </a:moveTo>
                <a:lnTo>
                  <a:pt x="349798" y="0"/>
                </a:lnTo>
                <a:lnTo>
                  <a:pt x="349798" y="1275891"/>
                </a:lnTo>
                <a:lnTo>
                  <a:pt x="0" y="1275891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374784" y="5665714"/>
            <a:ext cx="262349" cy="1108509"/>
          </a:xfrm>
          <a:custGeom>
            <a:rect b="b" l="l" r="r" t="t"/>
            <a:pathLst>
              <a:path extrusionOk="0" h="1478012" w="349798">
                <a:moveTo>
                  <a:pt x="0" y="0"/>
                </a:moveTo>
                <a:lnTo>
                  <a:pt x="349798" y="0"/>
                </a:lnTo>
                <a:lnTo>
                  <a:pt x="349798" y="1478012"/>
                </a:lnTo>
                <a:lnTo>
                  <a:pt x="0" y="1478012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6443651" y="1319199"/>
            <a:ext cx="3874364" cy="2782359"/>
          </a:xfrm>
          <a:custGeom>
            <a:rect b="b" l="l" r="r" t="t"/>
            <a:pathLst>
              <a:path extrusionOk="0" h="3170779" w="4257543">
                <a:moveTo>
                  <a:pt x="0" y="0"/>
                </a:moveTo>
                <a:lnTo>
                  <a:pt x="4257543" y="0"/>
                </a:lnTo>
                <a:lnTo>
                  <a:pt x="4257543" y="3170779"/>
                </a:lnTo>
                <a:lnTo>
                  <a:pt x="0" y="3170779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9159714" y="3619236"/>
            <a:ext cx="134922" cy="483196"/>
          </a:xfrm>
          <a:custGeom>
            <a:rect b="b" l="l" r="r" t="t"/>
            <a:pathLst>
              <a:path extrusionOk="0" h="644262" w="179896">
                <a:moveTo>
                  <a:pt x="0" y="0"/>
                </a:moveTo>
                <a:lnTo>
                  <a:pt x="179896" y="0"/>
                </a:lnTo>
                <a:lnTo>
                  <a:pt x="179896" y="644262"/>
                </a:lnTo>
                <a:lnTo>
                  <a:pt x="0" y="644262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 txBox="1"/>
          <p:nvPr/>
        </p:nvSpPr>
        <p:spPr>
          <a:xfrm>
            <a:off x="9309972" y="3802497"/>
            <a:ext cx="812351" cy="9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1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Infraestructura</a:t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6439675" y="4092949"/>
            <a:ext cx="3873390" cy="2940456"/>
          </a:xfrm>
          <a:custGeom>
            <a:rect b="b" l="l" r="r" t="t"/>
            <a:pathLst>
              <a:path extrusionOk="0" h="3575022" w="4767249">
                <a:moveTo>
                  <a:pt x="0" y="0"/>
                </a:moveTo>
                <a:lnTo>
                  <a:pt x="4767249" y="0"/>
                </a:lnTo>
                <a:lnTo>
                  <a:pt x="4767249" y="3575022"/>
                </a:lnTo>
                <a:lnTo>
                  <a:pt x="0" y="3575022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9287140" y="6300502"/>
            <a:ext cx="134922" cy="473722"/>
          </a:xfrm>
          <a:custGeom>
            <a:rect b="b" l="l" r="r" t="t"/>
            <a:pathLst>
              <a:path extrusionOk="0" h="631629" w="179896">
                <a:moveTo>
                  <a:pt x="0" y="0"/>
                </a:moveTo>
                <a:lnTo>
                  <a:pt x="179896" y="0"/>
                </a:lnTo>
                <a:lnTo>
                  <a:pt x="179896" y="631629"/>
                </a:lnTo>
                <a:lnTo>
                  <a:pt x="0" y="631629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 txBox="1"/>
          <p:nvPr/>
        </p:nvSpPr>
        <p:spPr>
          <a:xfrm>
            <a:off x="1026128" y="904634"/>
            <a:ext cx="26187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>
                <a:solidFill>
                  <a:schemeClr val="lt1"/>
                </a:solidFill>
              </a:rPr>
              <a:t>Soar &amp; Ejecución </a:t>
            </a:r>
            <a:r>
              <a:rPr lang="en-US" sz="995">
                <a:solidFill>
                  <a:schemeClr val="lt1"/>
                </a:solidFill>
              </a:rPr>
              <a:t>Determinista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522" name="Google Shape;522;p13"/>
          <p:cNvSpPr txBox="1"/>
          <p:nvPr/>
        </p:nvSpPr>
        <p:spPr>
          <a:xfrm>
            <a:off x="9459616" y="6471426"/>
            <a:ext cx="641330" cy="7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Orquestación</a:t>
            </a:r>
            <a:endParaRPr/>
          </a:p>
        </p:txBody>
      </p:sp>
      <p:pic>
        <p:nvPicPr>
          <p:cNvPr id="523" name="Google Shape;523;p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9688" y="389888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3"/>
          <p:cNvSpPr/>
          <p:nvPr/>
        </p:nvSpPr>
        <p:spPr>
          <a:xfrm>
            <a:off x="7334673" y="97150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9175675" y="208825"/>
            <a:ext cx="151792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 txBox="1"/>
          <p:nvPr/>
        </p:nvSpPr>
        <p:spPr>
          <a:xfrm>
            <a:off x="9432325" y="420900"/>
            <a:ext cx="11904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Equipo de Trabajo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4"/>
          <p:cNvSpPr/>
          <p:nvPr/>
        </p:nvSpPr>
        <p:spPr>
          <a:xfrm>
            <a:off x="0" y="-185750"/>
            <a:ext cx="10760174" cy="7837824"/>
          </a:xfrm>
          <a:custGeom>
            <a:rect b="b" l="l" r="r" t="t"/>
            <a:pathLst>
              <a:path extrusionOk="0" h="10080803" w="14299234">
                <a:moveTo>
                  <a:pt x="0" y="0"/>
                </a:moveTo>
                <a:lnTo>
                  <a:pt x="14299234" y="0"/>
                </a:lnTo>
                <a:lnTo>
                  <a:pt x="14299234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376296" y="314277"/>
            <a:ext cx="519288" cy="637533"/>
          </a:xfrm>
          <a:custGeom>
            <a:rect b="b" l="l" r="r" t="t"/>
            <a:pathLst>
              <a:path extrusionOk="0" h="850044" w="692384">
                <a:moveTo>
                  <a:pt x="0" y="0"/>
                </a:moveTo>
                <a:lnTo>
                  <a:pt x="692384" y="0"/>
                </a:lnTo>
                <a:lnTo>
                  <a:pt x="692384" y="850044"/>
                </a:lnTo>
                <a:lnTo>
                  <a:pt x="0" y="85004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504236" y="466926"/>
            <a:ext cx="263407" cy="323256"/>
          </a:xfrm>
          <a:custGeom>
            <a:rect b="b" l="l" r="r" t="t"/>
            <a:pathLst>
              <a:path extrusionOk="0" h="431008" w="351209">
                <a:moveTo>
                  <a:pt x="0" y="0"/>
                </a:moveTo>
                <a:lnTo>
                  <a:pt x="351209" y="0"/>
                </a:lnTo>
                <a:lnTo>
                  <a:pt x="351209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 txBox="1"/>
          <p:nvPr/>
        </p:nvSpPr>
        <p:spPr>
          <a:xfrm>
            <a:off x="954474" y="511863"/>
            <a:ext cx="13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K</a:t>
            </a: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 </a:t>
            </a:r>
            <a:r>
              <a:rPr lang="en-US" sz="2000">
                <a:solidFill>
                  <a:srgbClr val="17F9F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2000"/>
          </a:p>
        </p:txBody>
      </p:sp>
      <p:sp>
        <p:nvSpPr>
          <p:cNvPr id="536" name="Google Shape;536;p14"/>
          <p:cNvSpPr/>
          <p:nvPr/>
        </p:nvSpPr>
        <p:spPr>
          <a:xfrm>
            <a:off x="8037675" y="314277"/>
            <a:ext cx="903110" cy="637533"/>
          </a:xfrm>
          <a:custGeom>
            <a:rect b="b" l="l" r="r" t="t"/>
            <a:pathLst>
              <a:path extrusionOk="0" h="850044" w="1204146">
                <a:moveTo>
                  <a:pt x="0" y="0"/>
                </a:moveTo>
                <a:lnTo>
                  <a:pt x="1204146" y="0"/>
                </a:lnTo>
                <a:lnTo>
                  <a:pt x="1204146" y="850044"/>
                </a:lnTo>
                <a:lnTo>
                  <a:pt x="0" y="85004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8293556" y="466926"/>
            <a:ext cx="135466" cy="323256"/>
          </a:xfrm>
          <a:custGeom>
            <a:rect b="b" l="l" r="r" t="t"/>
            <a:pathLst>
              <a:path extrusionOk="0" h="431008" w="180622">
                <a:moveTo>
                  <a:pt x="0" y="0"/>
                </a:moveTo>
                <a:lnTo>
                  <a:pt x="180622" y="0"/>
                </a:lnTo>
                <a:lnTo>
                  <a:pt x="180622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8944574" y="314275"/>
            <a:ext cx="903110" cy="637533"/>
          </a:xfrm>
          <a:custGeom>
            <a:rect b="b" l="l" r="r" t="t"/>
            <a:pathLst>
              <a:path extrusionOk="0" h="850044" w="1204146">
                <a:moveTo>
                  <a:pt x="0" y="0"/>
                </a:moveTo>
                <a:lnTo>
                  <a:pt x="1204146" y="0"/>
                </a:lnTo>
                <a:lnTo>
                  <a:pt x="1204146" y="850044"/>
                </a:lnTo>
                <a:lnTo>
                  <a:pt x="0" y="850044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/>
          <p:nvPr/>
        </p:nvSpPr>
        <p:spPr>
          <a:xfrm>
            <a:off x="9061199" y="466926"/>
            <a:ext cx="263407" cy="323256"/>
          </a:xfrm>
          <a:custGeom>
            <a:rect b="b" l="l" r="r" t="t"/>
            <a:pathLst>
              <a:path extrusionOk="0" h="431008" w="351209">
                <a:moveTo>
                  <a:pt x="0" y="0"/>
                </a:moveTo>
                <a:lnTo>
                  <a:pt x="351209" y="0"/>
                </a:lnTo>
                <a:lnTo>
                  <a:pt x="351209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9828842" y="314277"/>
            <a:ext cx="519288" cy="637533"/>
          </a:xfrm>
          <a:custGeom>
            <a:rect b="b" l="l" r="r" t="t"/>
            <a:pathLst>
              <a:path extrusionOk="0" h="850044" w="692384">
                <a:moveTo>
                  <a:pt x="0" y="0"/>
                </a:moveTo>
                <a:lnTo>
                  <a:pt x="692384" y="0"/>
                </a:lnTo>
                <a:lnTo>
                  <a:pt x="692384" y="850044"/>
                </a:lnTo>
                <a:lnTo>
                  <a:pt x="0" y="850044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9956783" y="466926"/>
            <a:ext cx="263407" cy="323256"/>
          </a:xfrm>
          <a:custGeom>
            <a:rect b="b" l="l" r="r" t="t"/>
            <a:pathLst>
              <a:path extrusionOk="0" h="431008" w="351209">
                <a:moveTo>
                  <a:pt x="0" y="0"/>
                </a:moveTo>
                <a:lnTo>
                  <a:pt x="351209" y="0"/>
                </a:lnTo>
                <a:lnTo>
                  <a:pt x="351209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 txBox="1"/>
          <p:nvPr/>
        </p:nvSpPr>
        <p:spPr>
          <a:xfrm>
            <a:off x="494325" y="1531825"/>
            <a:ext cx="57420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7">
                <a:solidFill>
                  <a:srgbClr val="FFFFFF"/>
                </a:solidFill>
              </a:rPr>
              <a:t>E</a:t>
            </a:r>
            <a:r>
              <a:rPr lang="en-US" sz="328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 futuro de la Ciberseguridad</a:t>
            </a:r>
            <a:endParaRPr sz="600"/>
          </a:p>
        </p:txBody>
      </p:sp>
      <p:sp>
        <p:nvSpPr>
          <p:cNvPr id="543" name="Google Shape;543;p14"/>
          <p:cNvSpPr txBox="1"/>
          <p:nvPr/>
        </p:nvSpPr>
        <p:spPr>
          <a:xfrm>
            <a:off x="514747" y="2372545"/>
            <a:ext cx="29706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74">
                <a:solidFill>
                  <a:srgbClr val="37C9EF"/>
                </a:solidFill>
                <a:latin typeface="Sunflower Medium"/>
                <a:ea typeface="Sunflower Medium"/>
                <a:cs typeface="Sunflower Medium"/>
                <a:sym typeface="Sunflower Medium"/>
              </a:rPr>
              <a:t> </a:t>
            </a:r>
            <a:r>
              <a:rPr b="1" lang="en-US" sz="2574">
                <a:solidFill>
                  <a:srgbClr val="37C9EF"/>
                </a:solidFill>
              </a:rPr>
              <a:t>Soar en Pymes</a:t>
            </a:r>
            <a:endParaRPr b="1" sz="2574">
              <a:solidFill>
                <a:srgbClr val="37C9EF"/>
              </a:solidFill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376288" y="2880250"/>
            <a:ext cx="5741971" cy="3787754"/>
          </a:xfrm>
          <a:custGeom>
            <a:rect b="b" l="l" r="r" t="t"/>
            <a:pathLst>
              <a:path extrusionOk="0" h="4633338" w="7505844">
                <a:moveTo>
                  <a:pt x="0" y="0"/>
                </a:moveTo>
                <a:lnTo>
                  <a:pt x="7505844" y="0"/>
                </a:lnTo>
                <a:lnTo>
                  <a:pt x="7505844" y="4633338"/>
                </a:lnTo>
                <a:lnTo>
                  <a:pt x="0" y="4633338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376296" y="3103768"/>
            <a:ext cx="519288" cy="637533"/>
          </a:xfrm>
          <a:custGeom>
            <a:rect b="b" l="l" r="r" t="t"/>
            <a:pathLst>
              <a:path extrusionOk="0" h="850044" w="692384">
                <a:moveTo>
                  <a:pt x="0" y="0"/>
                </a:moveTo>
                <a:lnTo>
                  <a:pt x="692384" y="0"/>
                </a:lnTo>
                <a:lnTo>
                  <a:pt x="692384" y="850044"/>
                </a:lnTo>
                <a:lnTo>
                  <a:pt x="0" y="850044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504236" y="3267371"/>
            <a:ext cx="263407" cy="323256"/>
          </a:xfrm>
          <a:custGeom>
            <a:rect b="b" l="l" r="r" t="t"/>
            <a:pathLst>
              <a:path extrusionOk="0" h="431008" w="351209">
                <a:moveTo>
                  <a:pt x="0" y="0"/>
                </a:moveTo>
                <a:lnTo>
                  <a:pt x="351209" y="0"/>
                </a:lnTo>
                <a:lnTo>
                  <a:pt x="351209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 txBox="1"/>
          <p:nvPr/>
        </p:nvSpPr>
        <p:spPr>
          <a:xfrm>
            <a:off x="861067" y="3181866"/>
            <a:ext cx="4772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K</a:t>
            </a:r>
            <a:r>
              <a:rPr lang="en-US">
                <a:solidFill>
                  <a:srgbClr val="FFFFFF"/>
                </a:solidFill>
              </a:rPr>
              <a:t>ronos AI entrega seguridad, reversibilidad y control humano proporcional mediante una ejecución determinística diseñada para la realidad empresarial actual.</a:t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6381974" y="2047289"/>
            <a:ext cx="3966156" cy="4417834"/>
          </a:xfrm>
          <a:custGeom>
            <a:rect b="b" l="l" r="r" t="t"/>
            <a:pathLst>
              <a:path extrusionOk="0" h="5890445" w="5288208">
                <a:moveTo>
                  <a:pt x="0" y="0"/>
                </a:moveTo>
                <a:lnTo>
                  <a:pt x="5288208" y="0"/>
                </a:lnTo>
                <a:lnTo>
                  <a:pt x="5288208" y="5890445"/>
                </a:lnTo>
                <a:lnTo>
                  <a:pt x="0" y="5890445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8549437" y="5827590"/>
            <a:ext cx="1542812" cy="323256"/>
          </a:xfrm>
          <a:custGeom>
            <a:rect b="b" l="l" r="r" t="t"/>
            <a:pathLst>
              <a:path extrusionOk="0" h="431008" w="2057083">
                <a:moveTo>
                  <a:pt x="0" y="0"/>
                </a:moveTo>
                <a:lnTo>
                  <a:pt x="2057083" y="0"/>
                </a:lnTo>
                <a:lnTo>
                  <a:pt x="2057083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8677378" y="5827590"/>
            <a:ext cx="263407" cy="323256"/>
          </a:xfrm>
          <a:custGeom>
            <a:rect b="b" l="l" r="r" t="t"/>
            <a:pathLst>
              <a:path extrusionOk="0" h="431008" w="351209">
                <a:moveTo>
                  <a:pt x="0" y="0"/>
                </a:moveTo>
                <a:lnTo>
                  <a:pt x="351209" y="0"/>
                </a:lnTo>
                <a:lnTo>
                  <a:pt x="351209" y="431008"/>
                </a:lnTo>
                <a:lnTo>
                  <a:pt x="0" y="431008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 txBox="1"/>
          <p:nvPr/>
        </p:nvSpPr>
        <p:spPr>
          <a:xfrm>
            <a:off x="8445446" y="578195"/>
            <a:ext cx="4827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4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Soar</a:t>
            </a:r>
            <a:endParaRPr/>
          </a:p>
        </p:txBody>
      </p:sp>
      <p:sp>
        <p:nvSpPr>
          <p:cNvPr id="552" name="Google Shape;552;p14"/>
          <p:cNvSpPr txBox="1"/>
          <p:nvPr/>
        </p:nvSpPr>
        <p:spPr>
          <a:xfrm>
            <a:off x="9185975" y="580446"/>
            <a:ext cx="525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   </a:t>
            </a:r>
            <a:r>
              <a:rPr b="1" lang="en-US" sz="726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Pymes</a:t>
            </a:r>
            <a:endParaRPr/>
          </a:p>
        </p:txBody>
      </p:sp>
      <p:sp>
        <p:nvSpPr>
          <p:cNvPr id="553" name="Google Shape;553;p14"/>
          <p:cNvSpPr txBox="1"/>
          <p:nvPr/>
        </p:nvSpPr>
        <p:spPr>
          <a:xfrm>
            <a:off x="975925" y="919794"/>
            <a:ext cx="1917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Seguridad determinística</a:t>
            </a:r>
            <a:endParaRPr sz="900"/>
          </a:p>
        </p:txBody>
      </p:sp>
      <p:sp>
        <p:nvSpPr>
          <p:cNvPr id="554" name="Google Shape;554;p14"/>
          <p:cNvSpPr txBox="1"/>
          <p:nvPr/>
        </p:nvSpPr>
        <p:spPr>
          <a:xfrm>
            <a:off x="861075" y="4421925"/>
            <a:ext cx="5008500" cy="1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Esta solución demuestra capacidades de respuesta automatizada auditable sobre infraestructura de bajo costo.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6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marR="0" rtl="0" algn="just">
              <a:lnSpc>
                <a:spcPct val="16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 consolida como la opción ideal y accesible para el segmento de pequeñas y medianas empresas que buscan robustez sin costos prohibitivos.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5" name="Google Shape;555;p14"/>
          <p:cNvSpPr txBox="1"/>
          <p:nvPr/>
        </p:nvSpPr>
        <p:spPr>
          <a:xfrm>
            <a:off x="8836927" y="5923097"/>
            <a:ext cx="1050994" cy="116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Ejecución Cronos</a:t>
            </a:r>
            <a:endParaRPr/>
          </a:p>
        </p:txBody>
      </p:sp>
      <p:pic>
        <p:nvPicPr>
          <p:cNvPr id="556" name="Google Shape;556;p1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14763" y="413713"/>
            <a:ext cx="229552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4"/>
          <p:cNvSpPr/>
          <p:nvPr/>
        </p:nvSpPr>
        <p:spPr>
          <a:xfrm>
            <a:off x="7501348" y="200788"/>
            <a:ext cx="3064132" cy="1159292"/>
          </a:xfrm>
          <a:custGeom>
            <a:rect b="b" l="l" r="r" t="t"/>
            <a:pathLst>
              <a:path extrusionOk="0" h="10080803" w="14251775">
                <a:moveTo>
                  <a:pt x="0" y="0"/>
                </a:moveTo>
                <a:lnTo>
                  <a:pt x="14251775" y="0"/>
                </a:lnTo>
                <a:lnTo>
                  <a:pt x="14251775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9175675" y="208825"/>
            <a:ext cx="1132474" cy="645071"/>
          </a:xfrm>
          <a:custGeom>
            <a:rect b="b" l="l" r="r" t="t"/>
            <a:pathLst>
              <a:path extrusionOk="0" h="860094" w="1364426">
                <a:moveTo>
                  <a:pt x="0" y="0"/>
                </a:moveTo>
                <a:lnTo>
                  <a:pt x="1364426" y="0"/>
                </a:lnTo>
                <a:lnTo>
                  <a:pt x="1364426" y="860094"/>
                </a:lnTo>
                <a:lnTo>
                  <a:pt x="0" y="860094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9284162" y="366727"/>
            <a:ext cx="134451" cy="322535"/>
          </a:xfrm>
          <a:custGeom>
            <a:rect b="b" l="l" r="r" t="t"/>
            <a:pathLst>
              <a:path extrusionOk="0" h="430047" w="179268">
                <a:moveTo>
                  <a:pt x="0" y="0"/>
                </a:moveTo>
                <a:lnTo>
                  <a:pt x="179268" y="0"/>
                </a:lnTo>
                <a:lnTo>
                  <a:pt x="179268" y="430047"/>
                </a:lnTo>
                <a:lnTo>
                  <a:pt x="0" y="430047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 txBox="1"/>
          <p:nvPr/>
        </p:nvSpPr>
        <p:spPr>
          <a:xfrm>
            <a:off x="9432333" y="420890"/>
            <a:ext cx="7482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FFFFF"/>
                </a:solidFill>
              </a:rPr>
              <a:t>Conclusión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f9edb5c2c5_0_10"/>
          <p:cNvSpPr/>
          <p:nvPr/>
        </p:nvSpPr>
        <p:spPr>
          <a:xfrm>
            <a:off x="0" y="-207700"/>
            <a:ext cx="10760174" cy="7837824"/>
          </a:xfrm>
          <a:custGeom>
            <a:rect b="b" l="l" r="r" t="t"/>
            <a:pathLst>
              <a:path extrusionOk="0" h="10080803" w="14299234">
                <a:moveTo>
                  <a:pt x="0" y="0"/>
                </a:moveTo>
                <a:lnTo>
                  <a:pt x="14299234" y="0"/>
                </a:lnTo>
                <a:lnTo>
                  <a:pt x="14299234" y="10080803"/>
                </a:lnTo>
                <a:lnTo>
                  <a:pt x="0" y="10080803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9edb5c2c5_0_10"/>
          <p:cNvSpPr txBox="1"/>
          <p:nvPr/>
        </p:nvSpPr>
        <p:spPr>
          <a:xfrm>
            <a:off x="1197200" y="922575"/>
            <a:ext cx="81057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</a:rPr>
              <a:t>Gracias por su Atencion. 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568" name="Google Shape;568;g3f9edb5c2c5_0_10"/>
          <p:cNvSpPr/>
          <p:nvPr/>
        </p:nvSpPr>
        <p:spPr>
          <a:xfrm>
            <a:off x="242984" y="6"/>
            <a:ext cx="517201" cy="634787"/>
          </a:xfrm>
          <a:custGeom>
            <a:rect b="b" l="l" r="r" t="t"/>
            <a:pathLst>
              <a:path extrusionOk="0" h="846383" w="689602">
                <a:moveTo>
                  <a:pt x="0" y="0"/>
                </a:moveTo>
                <a:lnTo>
                  <a:pt x="689602" y="0"/>
                </a:lnTo>
                <a:lnTo>
                  <a:pt x="689602" y="846383"/>
                </a:lnTo>
                <a:lnTo>
                  <a:pt x="0" y="846383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9edb5c2c5_0_10"/>
          <p:cNvSpPr/>
          <p:nvPr/>
        </p:nvSpPr>
        <p:spPr>
          <a:xfrm>
            <a:off x="370410" y="151597"/>
            <a:ext cx="262349" cy="331605"/>
          </a:xfrm>
          <a:custGeom>
            <a:rect b="b" l="l" r="r" t="t"/>
            <a:pathLst>
              <a:path extrusionOk="0" h="442140" w="349798">
                <a:moveTo>
                  <a:pt x="0" y="0"/>
                </a:moveTo>
                <a:lnTo>
                  <a:pt x="349798" y="0"/>
                </a:lnTo>
                <a:lnTo>
                  <a:pt x="349798" y="442140"/>
                </a:lnTo>
                <a:lnTo>
                  <a:pt x="0" y="44214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9edb5c2c5_0_10"/>
          <p:cNvSpPr txBox="1"/>
          <p:nvPr/>
        </p:nvSpPr>
        <p:spPr>
          <a:xfrm>
            <a:off x="862261" y="209806"/>
            <a:ext cx="1710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6">
                <a:solidFill>
                  <a:srgbClr val="FFFFFF"/>
                </a:solidFill>
              </a:rPr>
              <a:t>K</a:t>
            </a:r>
            <a:r>
              <a:rPr lang="en-US" sz="200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ronos </a:t>
            </a:r>
            <a:r>
              <a:rPr lang="en-US" sz="2006">
                <a:solidFill>
                  <a:srgbClr val="007AFF"/>
                </a:solidFill>
              </a:rPr>
              <a:t>AI</a:t>
            </a:r>
            <a:endParaRPr>
              <a:solidFill>
                <a:srgbClr val="007AFF"/>
              </a:solidFill>
            </a:endParaRPr>
          </a:p>
        </p:txBody>
      </p:sp>
      <p:sp>
        <p:nvSpPr>
          <p:cNvPr id="571" name="Google Shape;571;g3f9edb5c2c5_0_10"/>
          <p:cNvSpPr/>
          <p:nvPr/>
        </p:nvSpPr>
        <p:spPr>
          <a:xfrm>
            <a:off x="752690" y="473728"/>
            <a:ext cx="1791466" cy="161065"/>
          </a:xfrm>
          <a:custGeom>
            <a:rect b="b" l="l" r="r" t="t"/>
            <a:pathLst>
              <a:path extrusionOk="0" h="214754" w="2388621">
                <a:moveTo>
                  <a:pt x="0" y="0"/>
                </a:moveTo>
                <a:lnTo>
                  <a:pt x="2388621" y="0"/>
                </a:lnTo>
                <a:lnTo>
                  <a:pt x="2388621" y="214754"/>
                </a:lnTo>
                <a:lnTo>
                  <a:pt x="0" y="214754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9edb5c2c5_0_10"/>
          <p:cNvSpPr txBox="1"/>
          <p:nvPr/>
        </p:nvSpPr>
        <p:spPr>
          <a:xfrm>
            <a:off x="894328" y="591984"/>
            <a:ext cx="26187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5">
                <a:solidFill>
                  <a:schemeClr val="lt1"/>
                </a:solidFill>
              </a:rPr>
              <a:t>Soar &amp; Ejecución Determinista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573" name="Google Shape;573;g3f9edb5c2c5_0_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888" y="77238"/>
            <a:ext cx="22955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f9edb5c2c5_0_10" title="logo final pp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775" y="1241454"/>
            <a:ext cx="10693400" cy="5841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